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23"/>
    <p:sldId id="273" r:id="rId24"/>
    <p:sldId id="274" r:id="rId25"/>
    <p:sldId id="275" r:id="rId26"/>
    <p:sldId id="276" r:id="rId27"/>
    <p:sldId id="277" r:id="rId28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8.xml"/><Relationship Id="rId14" Type="http://schemas.openxmlformats.org/officeDocument/2006/relationships/slide" Target="slides/slide19.xml"/><Relationship Id="rId15" Type="http://schemas.openxmlformats.org/officeDocument/2006/relationships/slide" Target="slides/slide20.xml"/><Relationship Id="rId16" Type="http://schemas.openxmlformats.org/officeDocument/2006/relationships/slide" Target="slides/slide21.xml"/><Relationship Id="rId17" Type="http://schemas.openxmlformats.org/officeDocument/2006/relationships/slide" Target="slides/slide22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Example-level F1</c:v>
                </c:pt>
              </c:strCache>
            </c:strRef>
          </c:tx>
          <c:spPr>
            <a:solidFill>
              <a:srgbClr val="5B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D2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6B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B6B6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GPT-3.5
prompting</c:v>
                  </c:pt>
                  <c:pt idx="1">
                    <c:v>SelfCheck
GPT</c:v>
                  </c:pt>
                  <c:pt idx="2">
                    <c:v>GPT-4-turbo
prompting</c:v>
                  </c:pt>
                  <c:pt idx="3">
                    <c:v>Luna</c:v>
                  </c:pt>
                  <c:pt idx="4">
                    <c:v>Lettuce
Detect-base</c:v>
                  </c:pt>
                  <c:pt idx="5">
                    <c:v>Fine-tuned
Llama-2-13B</c:v>
                  </c:pt>
                  <c:pt idx="6">
                    <c:v>Lettuce
Detect-large</c:v>
                  </c:pt>
                  <c:pt idx="7">
                    <c:v>RAG-HAT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52.9</c:v>
                </c:pt>
                <c:pt idx="1">
                  <c:v>58.8</c:v>
                </c:pt>
                <c:pt idx="2">
                  <c:v>63.4</c:v>
                </c:pt>
                <c:pt idx="3">
                  <c:v>65.4</c:v>
                </c:pt>
                <c:pt idx="4">
                  <c:v>76.07</c:v>
                </c:pt>
                <c:pt idx="5">
                  <c:v>78.7</c:v>
                </c:pt>
                <c:pt idx="6">
                  <c:v>79.22</c:v>
                </c:pt>
                <c:pt idx="7">
                  <c:v>83.9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F2D2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9525" cap="flat">
              <a:solidFill>
                <a:srgbClr val="D7E6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Example-level F1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5B6B6B"/>
            </a:solidFill>
            <a:ln>
              <a:noFill/>
            </a:ln>
          </c:spPr>
          <c:dPt>
            <c:idx val="0"/>
            <c:spPr>
              <a:solidFill>
                <a:srgbClr val="5B6B6B"/>
              </a:solidFill>
            </c:spPr>
          </c:dPt>
          <c:dPt>
            <c:idx val="1"/>
            <c:spPr>
              <a:solidFill>
                <a:srgbClr val="5B6B6B"/>
              </a:solidFill>
            </c:spPr>
          </c:dPt>
          <c:dPt>
            <c:idx val="2"/>
            <c:spPr>
              <a:solidFill>
                <a:srgbClr val="5B6B6B"/>
              </a:solidFill>
            </c:spPr>
          </c:dPt>
          <c:dPt>
            <c:idx val="3"/>
            <c:spPr>
              <a:solidFill>
                <a:srgbClr val="5B6B6B"/>
              </a:solidFill>
            </c:spPr>
          </c:dPt>
          <c:dPt>
            <c:idx val="4"/>
            <c:spPr>
              <a:solidFill>
                <a:srgbClr val="028090"/>
              </a:solidFill>
            </c:spPr>
          </c:dPt>
          <c:dPt>
            <c:idx val="5"/>
            <c:spPr>
              <a:solidFill>
                <a:srgbClr val="02C39A"/>
              </a:solidFill>
            </c:spPr>
          </c:dPt>
          <c:dPt>
            <c:idx val="6"/>
            <c:spPr>
              <a:solidFill>
                <a:srgbClr val="5B6B6B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 b="1">
                    <a:solidFill>
                      <a:srgbClr val="1F2D2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GPT-3.5
prompting</c:v>
                </c:pt>
                <c:pt idx="1">
                  <c:v>SelfCheckGPT</c:v>
                </c:pt>
                <c:pt idx="2">
                  <c:v>GPT-4-turbo
prompting</c:v>
                </c:pt>
                <c:pt idx="3">
                  <c:v>Luna</c:v>
                </c:pt>
                <c:pt idx="4">
                  <c:v>LettuceDetect-
base (paper)</c:v>
                </c:pt>
                <c:pt idx="5">
                  <c:v>Ours</c:v>
                </c:pt>
                <c:pt idx="6">
                  <c:v>RAG-HAT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52.9</c:v>
                </c:pt>
                <c:pt idx="1">
                  <c:v>58.8</c:v>
                </c:pt>
                <c:pt idx="2">
                  <c:v>63.4</c:v>
                </c:pt>
                <c:pt idx="3">
                  <c:v>65.4</c:v>
                </c:pt>
                <c:pt idx="4">
                  <c:v>76.07</c:v>
                </c:pt>
                <c:pt idx="5">
                  <c:v>77.18</c:v>
                </c:pt>
                <c:pt idx="6">
                  <c:v>83.9</c:v>
                </c:pt>
              </c:numCache>
            </c:numRef>
          </c:val>
        </c:ser>
        <c:dLbls>
          <c:numFmt sourceLinked="0"/>
          <c:txPr>
            <a:bodyPr/>
            <a:lstStyle/>
            <a:p>
              <a:pPr>
                <a:defRPr sz="1000" b="1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8D7"/>
            </a:solidFill>
          </a:ln>
        </c:spPr>
        <c:txPr>
          <a:bodyPr/>
          <a:lstStyle/>
          <a:p>
            <a:pPr>
              <a:defRPr sz="10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0"/>
        </c:scaling>
        <c:delete val="0"/>
        <c:axPos val="l"/>
        <c:majorGridlines>
          <c:spPr>
            <a:ln w="6350">
              <a:solidFill>
                <a:srgbClr val="E4EA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28090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 b="1">
                    <a:solidFill>
                      <a:srgbClr val="1F2D2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Data-to-text</c:v>
                </c:pt>
                <c:pt idx="1">
                  <c:v>QA</c:v>
                </c:pt>
                <c:pt idx="2">
                  <c:v>Summarization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88.9</c:v>
                </c:pt>
                <c:pt idx="1">
                  <c:v>65.5</c:v>
                </c:pt>
                <c:pt idx="2">
                  <c:v>64.6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896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 b="1">
                    <a:solidFill>
                      <a:srgbClr val="1F2D2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Data-to-text</c:v>
                </c:pt>
                <c:pt idx="1">
                  <c:v>QA</c:v>
                </c:pt>
                <c:pt idx="2">
                  <c:v>Summarization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85.8</c:v>
                </c:pt>
                <c:pt idx="1">
                  <c:v>68.8</c:v>
                </c:pt>
                <c:pt idx="2">
                  <c:v>45.6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2C39A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 b="1">
                    <a:solidFill>
                      <a:srgbClr val="1F2D2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Data-to-text</c:v>
                </c:pt>
                <c:pt idx="1">
                  <c:v>QA</c:v>
                </c:pt>
                <c:pt idx="2">
                  <c:v>Summarization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87.3</c:v>
                </c:pt>
                <c:pt idx="1">
                  <c:v>67.1</c:v>
                </c:pt>
                <c:pt idx="2">
                  <c:v>53.4</c:v>
                </c:pt>
              </c:numCache>
            </c:numRef>
          </c:val>
        </c:ser>
        <c:dLbls>
          <c:numFmt sourceLinked="0"/>
          <c:txPr>
            <a:bodyPr/>
            <a:lstStyle/>
            <a:p>
              <a:pPr>
                <a:defRPr sz="1000" b="1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8D7"/>
            </a:solidFill>
          </a:ln>
        </c:spPr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 w="6350">
              <a:solidFill>
                <a:srgbClr val="E4EA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F1</c:v>
                </c:pt>
              </c:strCache>
            </c:strRef>
          </c:tx>
          <c:spPr>
            <a:ln w="31750">
              <a:solidFill>
                <a:srgbClr val="028090"/>
              </a:solidFill>
            </a:ln>
          </c:spPr>
          <c:marker>
            <c:symbol val="diamond"/>
            <c:spPr>
              <a:solidFill>
                <a:srgbClr val="028090"/>
              </a:solidFill>
              <a:ln>
                <a:solidFill>
                  <a:srgbClr val="028090"/>
                </a:solidFill>
              </a:ln>
            </c:spPr>
          </c:marker>
          <c:dLbls>
            <c:numFmt sourceLinked="0"/>
            <c:txPr>
              <a:bodyPr/>
              <a:lstStyle/>
              <a:p>
                <a:pPr>
                  <a:defRPr sz="1000" b="1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  <c:pt idx="6">
                  <c:v>0.35</c:v>
                </c:pt>
                <c:pt idx="7">
                  <c:v>0.40</c:v>
                </c:pt>
                <c:pt idx="8">
                  <c:v>0.45</c:v>
                </c:pt>
                <c:pt idx="9">
                  <c:v>0.50</c:v>
                </c:pt>
                <c:pt idx="10">
                  <c:v>0.55</c:v>
                </c:pt>
                <c:pt idx="11">
                  <c:v>0.60</c:v>
                </c:pt>
                <c:pt idx="12">
                  <c:v>0.65</c:v>
                </c:pt>
                <c:pt idx="13">
                  <c:v>0.70</c:v>
                </c:pt>
                <c:pt idx="14">
                  <c:v>0.75</c:v>
                </c:pt>
                <c:pt idx="15">
                  <c:v>0.80</c:v>
                </c:pt>
                <c:pt idx="16">
                  <c:v>0.85</c:v>
                </c:pt>
                <c:pt idx="17">
                  <c:v>0.90</c:v>
                </c:pt>
                <c:pt idx="18">
                  <c:v>0.95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65.8</c:v>
                </c:pt>
                <c:pt idx="1">
                  <c:v>71.0</c:v>
                </c:pt>
                <c:pt idx="2">
                  <c:v>73.0</c:v>
                </c:pt>
                <c:pt idx="3">
                  <c:v>74.4</c:v>
                </c:pt>
                <c:pt idx="4">
                  <c:v>75.5</c:v>
                </c:pt>
                <c:pt idx="5">
                  <c:v>76.6</c:v>
                </c:pt>
                <c:pt idx="6">
                  <c:v>77.1</c:v>
                </c:pt>
                <c:pt idx="7">
                  <c:v>77.8</c:v>
                </c:pt>
                <c:pt idx="8">
                  <c:v>77.3</c:v>
                </c:pt>
                <c:pt idx="9">
                  <c:v>77.2</c:v>
                </c:pt>
                <c:pt idx="10">
                  <c:v>77.3</c:v>
                </c:pt>
                <c:pt idx="11">
                  <c:v>76.9</c:v>
                </c:pt>
                <c:pt idx="12">
                  <c:v>76.0</c:v>
                </c:pt>
                <c:pt idx="13">
                  <c:v>74.7</c:v>
                </c:pt>
                <c:pt idx="14">
                  <c:v>73.2</c:v>
                </c:pt>
                <c:pt idx="15">
                  <c:v>71.2</c:v>
                </c:pt>
                <c:pt idx="16">
                  <c:v>67.0</c:v>
                </c:pt>
                <c:pt idx="17">
                  <c:v>58.7</c:v>
                </c:pt>
                <c:pt idx="18">
                  <c:v>43.5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Span F1</c:v>
                </c:pt>
              </c:strCache>
            </c:strRef>
          </c:tx>
          <c:spPr>
            <a:ln w="31750">
              <a:solidFill>
                <a:srgbClr val="02C39A"/>
              </a:solidFill>
            </a:ln>
          </c:spPr>
          <c:marker>
            <c:symbol val="diamond"/>
            <c:spPr>
              <a:solidFill>
                <a:srgbClr val="02C39A"/>
              </a:solidFill>
              <a:ln>
                <a:solidFill>
                  <a:srgbClr val="02C39A"/>
                </a:solidFill>
              </a:ln>
            </c:spPr>
          </c:marker>
          <c:dLbls>
            <c:numFmt sourceLinked="0"/>
            <c:txPr>
              <a:bodyPr/>
              <a:lstStyle/>
              <a:p>
                <a:pPr>
                  <a:defRPr sz="1000" b="1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  <c:pt idx="6">
                  <c:v>0.35</c:v>
                </c:pt>
                <c:pt idx="7">
                  <c:v>0.40</c:v>
                </c:pt>
                <c:pt idx="8">
                  <c:v>0.45</c:v>
                </c:pt>
                <c:pt idx="9">
                  <c:v>0.50</c:v>
                </c:pt>
                <c:pt idx="10">
                  <c:v>0.55</c:v>
                </c:pt>
                <c:pt idx="11">
                  <c:v>0.60</c:v>
                </c:pt>
                <c:pt idx="12">
                  <c:v>0.65</c:v>
                </c:pt>
                <c:pt idx="13">
                  <c:v>0.70</c:v>
                </c:pt>
                <c:pt idx="14">
                  <c:v>0.75</c:v>
                </c:pt>
                <c:pt idx="15">
                  <c:v>0.80</c:v>
                </c:pt>
                <c:pt idx="16">
                  <c:v>0.85</c:v>
                </c:pt>
                <c:pt idx="17">
                  <c:v>0.90</c:v>
                </c:pt>
                <c:pt idx="18">
                  <c:v>0.95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32.8</c:v>
                </c:pt>
                <c:pt idx="1">
                  <c:v>42.6</c:v>
                </c:pt>
                <c:pt idx="2">
                  <c:v>47.4</c:v>
                </c:pt>
                <c:pt idx="3">
                  <c:v>51.0</c:v>
                </c:pt>
                <c:pt idx="4">
                  <c:v>55.1</c:v>
                </c:pt>
                <c:pt idx="5">
                  <c:v>58.2</c:v>
                </c:pt>
                <c:pt idx="6">
                  <c:v>60.2</c:v>
                </c:pt>
                <c:pt idx="7">
                  <c:v>61.3</c:v>
                </c:pt>
                <c:pt idx="8">
                  <c:v>63.8</c:v>
                </c:pt>
                <c:pt idx="9">
                  <c:v>64.2</c:v>
                </c:pt>
                <c:pt idx="10">
                  <c:v>64.8</c:v>
                </c:pt>
                <c:pt idx="11">
                  <c:v>66.4</c:v>
                </c:pt>
                <c:pt idx="12">
                  <c:v>66.6</c:v>
                </c:pt>
                <c:pt idx="13">
                  <c:v>66.6</c:v>
                </c:pt>
                <c:pt idx="14">
                  <c:v>66.2</c:v>
                </c:pt>
                <c:pt idx="15">
                  <c:v>64.2</c:v>
                </c:pt>
                <c:pt idx="16">
                  <c:v>60.9</c:v>
                </c:pt>
                <c:pt idx="17">
                  <c:v>53.9</c:v>
                </c:pt>
                <c:pt idx="18">
                  <c:v>43.9</c:v>
                </c:pt>
              </c:numCache>
            </c:numRef>
          </c:val>
          <c:smooth val="0"/>
        </c:ser>
        <c:dLbls>
          <c:numFmt sourceLinked="0"/>
          <c:txPr>
            <a:bodyPr/>
            <a:lstStyle/>
            <a:p>
              <a:pPr>
                <a:defRPr sz="1000" b="1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4EA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7-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6-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0-1.png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5-1.png"/><Relationship Id="rId3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8-1.png"/><Relationship Id="rId3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3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4663440"/>
            <a:ext cx="4023360" cy="402336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pic>
        <p:nvPicPr>
          <p:cNvPr id="5" name="Image 0" descr="/home/claude/deck/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702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760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 MINOR RESEARCH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LettuceDetect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Reimplementing and Extending a Hallucination Detector for RAG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66928" y="416052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4343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 we trust what a RAG system tells us, and can we trust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AF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detector that checks it?"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Presentation  |  Paper: Kovács &amp; Recski, Feb 2025 · arXiv:2502.17125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correct context doesn’t guarantee a correct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p/>
        </p:txBody>
      </p:sp>
      <p:pic>
        <p:nvPicPr>
          <p:cNvPr id="5" name="Image 0" descr="/home/claude/deck/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16002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57984" y="1965960"/>
            <a:ext cx="393192" cy="182880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606040" y="1600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606040" y="16002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15384" y="1965960"/>
            <a:ext cx="393192" cy="182880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663440" y="1600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663440" y="16002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72784" y="1965960"/>
            <a:ext cx="393192" cy="182880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720840" y="1600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A3A3F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720840" y="16002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8346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77240" y="2999232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Eiffel Tower was completed in 1889.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"Completed in 1889,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1440E"/>
                </a:solidFill>
                <a:highlight>
                  <a:srgbClr val="FBE4D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Gustave Eiffel and costing 7.8 million francs."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43708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text is true, but never stated in the context: unsupported, therefore a hallucination.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22960" y="489204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=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"unsupported by the given context," not "false in the real world." This narrow definition is what makes the problem checkable by a program at all.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detectors fell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73736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2121408"/>
            <a:ext cx="5257800" cy="3931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17373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GPT-4 prompted to check the answer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017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331012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373989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403250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Doubles/triples inference cost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4325112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real latency at production scale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55080" y="173736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355080" y="173736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355080" y="2121408"/>
            <a:ext cx="5257800" cy="39319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629400" y="17373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Encoder Classifiers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629400" y="2514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Luna (DeBERTa-large, 440M)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29400" y="3017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29400" y="331012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fast inference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629400" y="373989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629400" y="403250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512 tokens (BERT-family)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29400" y="4325112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RAG contexts run 2,000–8,000 tokens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629400" y="461772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blind to most evidence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0A3A3F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was stuck between accurate-and-expensive and cheap-and-blind. Nobody wanted a safety check that costs more than the thing it’s checking.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field got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3017520"/>
            <a:ext cx="10835640" cy="0"/>
          </a:xfrm>
          <a:prstGeom prst="line">
            <a:avLst/>
          </a:prstGeom>
          <a:noFill/>
          <a:ln w="381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76072" y="2907792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82880" y="2633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16002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7432" y="166420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SelfCheckGPT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" y="202082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Zero-resource,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consistency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930527" y="2907792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537335" y="4407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354455" y="32918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81887" y="3355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RAGTruth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81887" y="37124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enabling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84982" y="2907792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891790" y="2633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08910" y="16002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736342" y="166420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36342" y="202082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encoder,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context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39437" y="2907792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246245" y="4407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063365" y="32918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090797" y="3355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ReDeEP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090797" y="37124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93892" y="2907792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600700" y="2633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17820" y="16002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45252" y="166420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RAG-HAT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45252" y="202082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detector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DPO fix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302627" y="2862072"/>
            <a:ext cx="310896" cy="310896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955155" y="4407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772275" y="32918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799707" y="3355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LettuceDetect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799707" y="37124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 context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702802" y="2907792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8309610" y="2633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126730" y="16002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154162" y="166420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Turk-LD / OOD study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154162" y="202082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warning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10057257" y="2907792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664065" y="4407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481185" y="32918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9508617" y="335584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PsiloQA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508617" y="37124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14-lang, LLM-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data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1411712" y="2907792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11018520" y="2633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10835640" y="16002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10863072" y="1664208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RAGognizer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10863072" y="202082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folded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generator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reacts to a specific gap in the one before it: a chain of reasoning, not a random list.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Method-by-method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/>
              <a:tblGrid>
                <a:gridCol w="2331720"/>
                <a:gridCol w="640080"/>
                <a:gridCol w="1691640"/>
                <a:gridCol w="3200400"/>
                <a:gridCol w="3200400"/>
              </a:tblGrid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Advantage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SelfCheckGPT [3]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(black-box)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training data or model access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 N-sample inference; not context-grounded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 [4]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440M (DeBERTa)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~97% cheaper than an LLM-judge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512-token context ceiling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RAG-HAT [5]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 (Llama-3)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F1; also mitigates via DPO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Heavy, closed-model (GPT-4)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ReDeEP [6]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White-box probe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why — attention vs.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generator internals; no closed APIs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LettuceDetect-base [1]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150M (ModernBERT)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accuracy-efficiency trade-off; 8K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English-only; no calibration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LettuceDetect-large [1]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396M (ModernBERT)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F1, same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limitations, larger footprint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Turk-LettuceDetect [8]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~150–396M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multilingual (Turkish) variant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drop from translation noise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PsiloQA [9]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14-language 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Cheap, scalable, LLM-annotated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not human-verified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RAGognizer [10] (2026)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Joint-trained 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inference-time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generator retraining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HALT-RAG [11]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NLI 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calibration error + abstention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 on HaluEval, not RAGTruth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*F1 = example-level F1 on RAGTruth as reported by each source paper, unless otherwise noted.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CATALOG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detector was trained and tested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160520"/>
        </p:xfrm>
        <a:graphic>
          <a:graphicData uri="http://schemas.openxmlformats.org/drawingml/2006/table">
            <a:tbl>
              <a:tblPr/>
              <a:tblGrid>
                <a:gridCol w="2148840"/>
                <a:gridCol w="2606040"/>
                <a:gridCol w="4937760"/>
                <a:gridCol w="1371600"/>
              </a:tblGrid>
              <a:tr h="462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/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RAGTruth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LettuceDetect, RAG-HAT, ReDeEP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~18K span-annotated triples; QA + data-to-text + summarization; 6 LLMs/item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WikiBio GPT-3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SelfCheckGPT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 bios → 1,908 sentences, manually labeled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Dolly (Accurate Context)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tasks with verified accurate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Turkish-RAGTruth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Turk-LettuceDetect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Machine-translated RAGTruth, ~17,790 instances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SQuAD-derived 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Dubanowska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passages via LLaMA-2-7B, OOD test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PsiloQA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PsiloQA 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63,792 train / 2,897 test; GPT-4o auto-annotated spans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languages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RAGognize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RAGognizer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Naturally occurring closed-domain hallucinations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HaluEval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HALT-RAG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~35K QA / dialogue / summarization pairs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777240" y="58978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reimplementation uses RAGTruth exclusively, the only dataset here that is public, human-annotated at span level, and directly comparable to LettuceDetect’s published numbers.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LettuceDetect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1792" y="1737360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Context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[SEP] Question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[SEP] Answer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148840" y="2340864"/>
            <a:ext cx="329184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505456" y="17373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578608" y="1737360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AutoTokenizer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 offsets)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05656" y="2340864"/>
            <a:ext cx="329184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462272" y="17373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535424" y="1737360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62472" y="2340864"/>
            <a:ext cx="329184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419088" y="17373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92240" y="1737360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token-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head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19288" y="2340864"/>
            <a:ext cx="329184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375904" y="17373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49056" y="1737360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P(hallucinated)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976104" y="2340864"/>
            <a:ext cx="329184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332720" y="17373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0A3A3F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0405872" y="1737360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spans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3337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question tokens are labeled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144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−100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(PyTorch’s "ignore in loss" sentinel). The model reads them, but is graded only on its predictions for answer tokens.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25" name="Image 1" descr="/home/claude/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4189781"/>
            <a:ext cx="261518" cy="26151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8872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supervision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188720" y="437083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300-token answer yields 300 training signals, not one.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34340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29" name="Image 2" descr="/home/claude/deck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101" y="4189781"/>
            <a:ext cx="261518" cy="26151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98348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Localizes the problem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4983480" y="437083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which phrase is unsupported.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13816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33" name="Image 3" descr="/home/claude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1" y="4189781"/>
            <a:ext cx="261518" cy="26151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77824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falls out free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8778240" y="437083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OR across token predictions gives yes/no.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37" name="Text 31"/>
          <p:cNvSpPr/>
          <p:nvPr/>
        </p:nvSpPr>
        <p:spPr>
          <a:xfrm>
            <a:off x="777240" y="53492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 (token-level classification) wasn’t a new idea. It only became possible once a long-context encoder existed, and recognizing that timing is the paper’s real contribution.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enabler: ModernBERT’s long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r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DeBERTa (Luna)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212848"/>
            <a:ext cx="605790" cy="502920"/>
          </a:xfrm>
          <a:prstGeom prst="roundRect">
            <a:avLst>
              <a:gd name="adj" fmla="val 7273"/>
            </a:avLst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38478" y="2212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 (LettuceDetect)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310128"/>
            <a:ext cx="9692640" cy="50292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625328" y="3310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8,192 tokens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16x more context capacity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434840"/>
            <a:ext cx="52578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77240" y="45720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512-token ceiling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49377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BERT learns one position vector per slot, 1–512. Slot 513 simply doesn’t exist: a hard architectural wall.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55080" y="4434840"/>
            <a:ext cx="52578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583680" y="45720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RoPE removes the wall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83680" y="49377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Rotary Position Embeddings encode position as a mathematical rotation defined for any position, extending capacity to 8,192 tokens.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recipe &amp; evaluation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43600" cy="4160520"/>
        </p:xfrm>
        <a:graphic>
          <a:graphicData uri="http://schemas.openxmlformats.org/drawingml/2006/table">
            <a:tbl>
              <a:tblPr/>
              <a:tblGrid>
                <a:gridCol w="2194560"/>
                <a:gridCol w="3749040"/>
              </a:tblGrid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ModernBERT-base (150M) / -large (396M)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(paper, on A100)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sequence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4,096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(DataCollatorForTokenClassification)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token-level F1 on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720840" y="1600200"/>
            <a:ext cx="4892040" cy="1965960"/>
          </a:xfrm>
          <a:prstGeom prst="roundRect">
            <a:avLst>
              <a:gd name="adj" fmla="val 3256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949440" y="17373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Example-level F1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949440" y="2084832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flagged token → example flagged, then precision/recall/F1 over examples. Answers: "does this response need review?"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720840" y="3703320"/>
            <a:ext cx="4892040" cy="1965960"/>
          </a:xfrm>
          <a:prstGeom prst="roundRect">
            <a:avLst>
              <a:gd name="adj" fmla="val 3256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949440" y="38404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Span-level F1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949440" y="4187952"/>
            <a:ext cx="4434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Character-overlap matching between predicted and gold spans. No official reference implementation exists; each paper self-implements this, so numbers are indicative, not exactly comparable.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0A3A3F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matter: hallucinated tokens are the minority class, so raw accuracy is deceptively high for a model that predicts "supported" everywhere.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results on RAGTruth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548640" y="1600200"/>
          <a:ext cx="11064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822960" y="54864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Reimplementation target: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LettuceDetect-base ≈ 76.07 example-level F1; achieved 77.18 (see Results)</a:t>
            </a:r>
            <a:br/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values are as reported by each source paper, not perfectly comparable due to differing implementations and evaluation protocols.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LettuceDetect solves vs. leaves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pic>
        <p:nvPicPr>
          <p:cNvPr id="8" name="Image 1" descr="/home/claude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756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9659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solves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8680" y="26060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512-token ceiling that blinded prior small-encoder detectors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" y="34747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inference cost ~30x vs. LLM-judge approaches at comparable accuracy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4343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per-token → per-span output, not just a binary verdict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52120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every prior encoder-based method on RAGTruth, and most prompting baselines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5508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C1440E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p/>
        </p:txBody>
      </p:sp>
      <p:pic>
        <p:nvPicPr>
          <p:cNvPr id="16" name="Image 2" descr="/home/claude/deck/icons/cr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075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19659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leaves open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675120" y="26060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English-only: stated explicitly in the paper’s own limitations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675120" y="331927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signal: never examines the generator’s internal attention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675120" y="4032504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collapse of RAGTruth’s four hallucination categories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675120" y="4745736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calibration: a fixed 0.5 threshold treats all flags identically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675120" y="5458968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generalization: may perform close to random out-of-distribution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028090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F2D2D"/>
                </a:solidFill>
                <a:latin typeface="Cambria"/>
              </a:rPr>
              <a:t>From code to a trained model</a:t>
            </a:r>
          </a:p>
        </p:txBody>
      </p:sp>
      <p:sp>
        <p:nvSpPr>
          <p:cNvPr id="4" name="Oval 3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521207"/>
            <a:ext cx="292608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737360"/>
            <a:ext cx="1920240" cy="13716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773936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data_prep.py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87168" y="2340864"/>
            <a:ext cx="329184" cy="164592"/>
          </a:xfrm>
          <a:prstGeom prst="rightArrow">
            <a:avLst/>
          </a:prstGeom>
          <a:solidFill>
            <a:srgbClr val="5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40" y="1737360"/>
            <a:ext cx="1920240" cy="1371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1737360"/>
            <a:ext cx="1773936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verify_
alignment.py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73168" y="2340864"/>
            <a:ext cx="329184" cy="164592"/>
          </a:xfrm>
          <a:prstGeom prst="rightArrow">
            <a:avLst/>
          </a:prstGeom>
          <a:solidFill>
            <a:srgbClr val="5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1737360"/>
            <a:ext cx="1920240" cy="13716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737360"/>
            <a:ext cx="1773936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D2D"/>
                </a:solidFill>
                <a:latin typeface="Calibri"/>
              </a:rPr>
              <a:t>model.py +
dataset.py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59168" y="2340864"/>
            <a:ext cx="329184" cy="164592"/>
          </a:xfrm>
          <a:prstGeom prst="rightArrow">
            <a:avLst/>
          </a:prstGeom>
          <a:solidFill>
            <a:srgbClr val="5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737360"/>
            <a:ext cx="1920240" cy="1371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1737360"/>
            <a:ext cx="1773936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train.py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45167" y="2340864"/>
            <a:ext cx="329184" cy="164592"/>
          </a:xfrm>
          <a:prstGeom prst="rightArrow">
            <a:avLst/>
          </a:prstGeom>
          <a:solidFill>
            <a:srgbClr val="5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0" y="1737360"/>
            <a:ext cx="1920240" cy="1371600"/>
          </a:xfrm>
          <a:prstGeom prst="rect">
            <a:avLst/>
          </a:prstGeom>
          <a:solidFill>
            <a:srgbClr val="0A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5792" y="1737360"/>
            <a:ext cx="1773936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evaluate.py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join + tokenize +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label-align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18211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hand-check on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real 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18211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ModernBERT +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HF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18211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HF Trainer,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smoke-test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18211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F1 + raw prob.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B6B6B"/>
                </a:solidFill>
                <a:latin typeface="Calibri"/>
              </a:rPr>
              <a:t>dump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5B6B6B"/>
                </a:solidFill>
                <a:latin typeface="Calibri"/>
              </a:rPr>
              <a:t>◀  Dev machine (no GPU)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794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5B6B6B"/>
                </a:solidFill>
                <a:latin typeface="Calibri"/>
              </a:rPr>
              <a:t>RTX 4060 laptop (GPU)  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6052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28090"/>
                </a:solidFill>
                <a:latin typeface="Cambria"/>
              </a:rPr>
              <a:t>0 /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B6B"/>
                </a:solidFill>
                <a:latin typeface="Calibri"/>
              </a:rPr>
              <a:t>label-alignment mismatches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B6B"/>
                </a:solidFill>
                <a:latin typeface="Calibri"/>
              </a:rPr>
              <a:t>hand-checked before scaling 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540" y="416052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28090"/>
                </a:solidFill>
                <a:latin typeface="Cambria"/>
              </a:rPr>
              <a:t>CPU smoke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540" y="45720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B6B"/>
                </a:solidFill>
                <a:latin typeface="Calibri"/>
              </a:rPr>
              <a:t>runtime-verified before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B6B"/>
                </a:solidFill>
                <a:latin typeface="Calibri"/>
              </a:rPr>
              <a:t>any GPU time was spent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16052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28090"/>
                </a:solidFill>
                <a:latin typeface="Cambria"/>
              </a:rPr>
              <a:t>2 machines, 1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57200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B6B"/>
                </a:solidFill>
                <a:latin typeface="Calibri"/>
              </a:rPr>
              <a:t>code + smoke tests here;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B6B"/>
                </a:solidFill>
                <a:latin typeface="Calibri"/>
              </a:rPr>
              <a:t>real training on the GPU laptop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349240"/>
            <a:ext cx="11064240" cy="960120"/>
          </a:xfrm>
          <a:prstGeom prst="rect">
            <a:avLst/>
          </a:prstGeom>
          <a:solidFill>
            <a:srgbClr val="EE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10607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D2D"/>
                </a:solidFill>
                <a:latin typeface="Calibri"/>
              </a:rPr>
              <a:t>Own code, not their package: </a:t>
            </a:r>
            <a:r>
              <a:rPr sz="1300" b="0">
                <a:solidFill>
                  <a:srgbClr val="1F2D2D"/>
                </a:solidFill>
                <a:latin typeface="Calibri"/>
              </a:rPr>
              <a:t>every script above was written from scratch and verified against real RAGTruth data. The trickiest step (label alignment) was checked against the official reference implementation before being trusted at scale.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6B"/>
                </a:solidFill>
                <a:latin typeface="Calibri"/>
              </a:rPr>
              <a:t>LettuceDetect: Literature Survey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028090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F2D2D"/>
                </a:solidFill>
                <a:latin typeface="Cambria"/>
              </a:rPr>
              <a:t>Dataset reality &amp; hardware adaptation</a:t>
            </a:r>
          </a:p>
        </p:txBody>
      </p:sp>
      <p:sp>
        <p:nvSpPr>
          <p:cNvPr id="4" name="Oval 3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521207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028090"/>
                </a:solidFill>
                <a:latin typeface="Cambria"/>
              </a:rPr>
              <a:t>2,965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D2D"/>
                </a:solidFill>
                <a:latin typeface="Calibri"/>
              </a:rPr>
              <a:t>RAGTruth source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B6B6B"/>
                </a:solidFill>
                <a:latin typeface="Calibri"/>
              </a:rPr>
              <a:t>3 tasks: QA, Summary, Data2txt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540" y="160020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028090"/>
                </a:solidFill>
                <a:latin typeface="Cambria"/>
              </a:rPr>
              <a:t>17,790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540" y="219456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D2D"/>
                </a:solidFill>
                <a:latin typeface="Calibri"/>
              </a:rPr>
              <a:t>LLM responses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540" y="245059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B6B6B"/>
                </a:solidFill>
                <a:latin typeface="Calibri"/>
              </a:rPr>
              <a:t>6 models per source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0020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028090"/>
                </a:solidFill>
                <a:latin typeface="Cambria"/>
              </a:rPr>
              <a:t>15,090 / 2,700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9456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D2D"/>
                </a:solidFill>
                <a:latin typeface="Calibri"/>
              </a:rPr>
              <a:t>train / test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45059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B6B6B"/>
                </a:solidFill>
                <a:latin typeface="Calibri"/>
              </a:rPr>
              <a:t>test balanced 900 per task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525780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17520"/>
            <a:ext cx="5257800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Paper Setting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74903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5B6B6B"/>
                </a:solidFill>
                <a:latin typeface="Calibri"/>
              </a:rPr>
              <a:t>GPU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749039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D2D"/>
                </a:solidFill>
                <a:latin typeface="Calibri"/>
              </a:rPr>
              <a:t>A100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0624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5B6B6B"/>
                </a:solidFill>
                <a:latin typeface="Calibri"/>
              </a:rPr>
              <a:t>Batch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20624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D2D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66344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5B6B6B"/>
                </a:solidFill>
                <a:latin typeface="Calibri"/>
              </a:rPr>
              <a:t>Max seq. length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66344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D2D"/>
                </a:solidFill>
                <a:latin typeface="Calibri"/>
              </a:rPr>
              <a:t>4,096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017520"/>
            <a:ext cx="525780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017520"/>
            <a:ext cx="5257800" cy="5486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Our Setting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74903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5B6B6B"/>
                </a:solidFill>
                <a:latin typeface="Calibri"/>
              </a:rPr>
              <a:t>GPU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749039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D2D"/>
                </a:solidFill>
                <a:latin typeface="Calibri"/>
              </a:rPr>
              <a:t>RTX 4060 laptop (8GB)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0624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5B6B6B"/>
                </a:solidFill>
                <a:latin typeface="Calibri"/>
              </a:rPr>
              <a:t>Batch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20624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D2D"/>
                </a:solidFill>
                <a:latin typeface="Calibri"/>
              </a:rPr>
              <a:t>2 × grad-accum 4 (eff. 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66344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5B6B6B"/>
                </a:solidFill>
                <a:latin typeface="Calibri"/>
              </a:rPr>
              <a:t>Max seq. length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66344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D2D"/>
                </a:solidFill>
                <a:latin typeface="Calibri"/>
              </a:rPr>
              <a:t>2,048 tokens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EE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5778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2D2D"/>
                </a:solidFill>
                <a:latin typeface="Calibri"/>
              </a:rPr>
              <a:t>Documented, expected deviations</a:t>
            </a:r>
            <a:r>
              <a:rPr sz="1300" b="0">
                <a:solidFill>
                  <a:srgbClr val="1F2D2D"/>
                </a:solidFill>
                <a:latin typeface="Calibri"/>
              </a:rPr>
              <a:t>: exactly the class of hardware adaptation the project brief calls defensible, provided it's disclosed.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6B"/>
                </a:solidFill>
                <a:latin typeface="Calibri"/>
              </a:rPr>
              <a:t>LettuceDetect: Literature Survey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028090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F2D2D"/>
                </a:solidFill>
                <a:latin typeface="Cambria"/>
              </a:rPr>
              <a:t>We matched the paper's own number</a:t>
            </a:r>
          </a:p>
        </p:txBody>
      </p:sp>
      <p:sp>
        <p:nvSpPr>
          <p:cNvPr id="4" name="Oval 3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521207"/>
            <a:ext cx="292608" cy="292608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97880"/>
            <a:ext cx="11064240" cy="594360"/>
          </a:xfrm>
          <a:prstGeom prst="rect">
            <a:avLst/>
          </a:prstGeom>
          <a:solidFill>
            <a:srgbClr val="EE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28090"/>
                </a:solidFill>
                <a:latin typeface="Calibri"/>
              </a:rPr>
              <a:t>77.18 vs. a 76.07 target</a:t>
            </a:r>
            <a:r>
              <a:rPr sz="1350" b="0">
                <a:solidFill>
                  <a:srgbClr val="1F2D2D"/>
                </a:solidFill>
                <a:latin typeface="Calibri"/>
              </a:rPr>
              <a:t>: an independently written reimplementation, not the authors' pip package, matching their published headline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6B"/>
                </a:solidFill>
                <a:latin typeface="Calibri"/>
              </a:rPr>
              <a:t>LettuceDetect: Literature Survey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028090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F2D2D"/>
                </a:solidFill>
                <a:latin typeface="Cambria"/>
              </a:rPr>
              <a:t>Per-task breakdown reproduces the paper's own pattern</a:t>
            </a:r>
          </a:p>
        </p:txBody>
      </p:sp>
      <p:sp>
        <p:nvSpPr>
          <p:cNvPr id="4" name="Oval 3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521207"/>
            <a:ext cx="292608" cy="292608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0A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Summarization is the weakest task in our model too. </a:t>
            </a:r>
            <a:r>
              <a:rPr sz="1300" b="0">
                <a:solidFill>
                  <a:srgbClr val="FFFFFF"/>
                </a:solidFill>
                <a:latin typeface="Calibri"/>
              </a:rPr>
              <a:t>The original paper reports the same pattern, and reproducing this qualitative weakness is stronger evidence of a faithful reimplementation than the aggregate score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6B"/>
                </a:solidFill>
                <a:latin typeface="Calibri"/>
              </a:rPr>
              <a:t>LettuceDetect: Literature Survey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028090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F2D2D"/>
                </a:solidFill>
                <a:latin typeface="Cambria"/>
              </a:rPr>
              <a:t>Threshold tuning, done honestly</a:t>
            </a:r>
          </a:p>
        </p:txBody>
      </p:sp>
      <p:sp>
        <p:nvSpPr>
          <p:cNvPr id="4" name="Oval 3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521207"/>
            <a:ext cx="292608" cy="292608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704088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09560" y="160020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D2D"/>
                </a:solidFill>
                <a:latin typeface="Calibri"/>
              </a:rPr>
              <a:t>Held-out result, global vs. per-task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0A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778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300">
                <a:solidFill>
                  <a:srgbClr val="FFFFFF"/>
                </a:solidFill>
                <a:latin typeface="Calibri"/>
              </a:rPr>
              <a:t>A single global threshold barely moves F1, but tuning it per task finds a real +4.4 gain on Summarization</a:t>
            </a:r>
            <a:r>
              <a:rPr b="0" sz="1300">
                <a:solidFill>
                  <a:srgbClr val="FFFFFF"/>
                </a:solidFill>
                <a:latin typeface="Calibri"/>
              </a:rPr>
              <a:t>, our weakest task, for zero additional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6B"/>
                </a:solidFill>
                <a:latin typeface="Calibri"/>
              </a:rPr>
              <a:t>LettuceDetect: Literature Survey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6B"/>
                </a:solidFill>
                <a:latin typeface="Calibri"/>
              </a:rPr>
              <a:t>16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909560" y="1965960"/>
          <a:ext cx="35204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22960"/>
                <a:gridCol w="822960"/>
                <a:gridCol w="731520"/>
              </a:tblGrid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45720" marR="45720" marT="27432" marB="27432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@0.5</a:t>
                      </a:r>
                    </a:p>
                  </a:txBody>
                  <a:tcPr marL="45720" marR="45720" marT="27432" marB="27432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@Tuned</a:t>
                      </a:r>
                    </a:p>
                  </a:txBody>
                  <a:tcPr marL="45720" marR="45720" marT="27432" marB="27432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Gain</a:t>
                      </a:r>
                    </a:p>
                  </a:txBody>
                  <a:tcPr marL="45720" marR="45720" marT="27432" marB="27432" anchor="ctr">
                    <a:solidFill>
                      <a:srgbClr val="028090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D2D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D2D"/>
                          </a:solidFill>
                          <a:latin typeface="Calibri"/>
                        </a:rPr>
                        <a:t>78.2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D2D"/>
                          </a:solidFill>
                          <a:latin typeface="Calibri"/>
                        </a:rPr>
                        <a:t>78.3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D2D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D2D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marL="45720" marR="45720" marT="27432" marB="27432" anchor="ctr">
                    <a:solidFill>
                      <a:srgbClr val="D7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D2D"/>
                          </a:solidFill>
                          <a:latin typeface="Calibri"/>
                        </a:rPr>
                        <a:t>55.2</a:t>
                      </a:r>
                    </a:p>
                  </a:txBody>
                  <a:tcPr marL="45720" marR="45720" marT="27432" marB="27432" anchor="ctr">
                    <a:solidFill>
                      <a:srgbClr val="D7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D2D"/>
                          </a:solidFill>
                          <a:latin typeface="Calibri"/>
                        </a:rPr>
                        <a:t>59.6</a:t>
                      </a:r>
                    </a:p>
                  </a:txBody>
                  <a:tcPr marL="45720" marR="45720" marT="27432" marB="27432" anchor="ctr">
                    <a:solidFill>
                      <a:srgbClr val="D7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28090"/>
                          </a:solidFill>
                          <a:latin typeface="Calibri"/>
                        </a:rPr>
                        <a:t>+4.4</a:t>
                      </a:r>
                    </a:p>
                  </a:txBody>
                  <a:tcPr marL="45720" marR="45720" marT="27432" marB="27432" anchor="ctr">
                    <a:solidFill>
                      <a:srgbClr val="D7EFE9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D2D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D2D"/>
                          </a:solidFill>
                          <a:latin typeface="Calibri"/>
                        </a:rPr>
                        <a:t>63.7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D2D"/>
                          </a:solidFill>
                          <a:latin typeface="Calibri"/>
                        </a:rPr>
                        <a:t>65.4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D2D"/>
                          </a:solidFill>
                          <a:latin typeface="Calibri"/>
                        </a:rPr>
                        <a:t>+1.7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D2D"/>
                          </a:solidFill>
                          <a:latin typeface="Calibri"/>
                        </a:rPr>
                        <a:t>Data2txt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D2D"/>
                          </a:solidFill>
                          <a:latin typeface="Calibri"/>
                        </a:rPr>
                        <a:t>86.9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D2D"/>
                          </a:solidFill>
                          <a:latin typeface="Calibri"/>
                        </a:rPr>
                        <a:t>87.1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D2D"/>
                          </a:solidFill>
                          <a:latin typeface="Calibri"/>
                        </a:rPr>
                        <a:t>+0.2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028090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F2D2D"/>
                </a:solidFill>
                <a:latin typeface="Cambria"/>
              </a:rPr>
              <a:t>What worked, and what we found along the way</a:t>
            </a:r>
          </a:p>
        </p:txBody>
      </p:sp>
      <p:sp>
        <p:nvSpPr>
          <p:cNvPr id="4" name="Oval 3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521207"/>
            <a:ext cx="292608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600200"/>
            <a:ext cx="525780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257800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What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Matched the paper's F1 (77.18 vs. 76.07 target)</a:t>
            </a:r>
          </a:p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Reproduced the paper's own summarization weakness</a:t>
            </a:r>
          </a:p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0 / 10 mismatches hand-verifying label alignment</a:t>
            </a:r>
          </a:p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CPU smoke tests caught bugs before any GPU time</a:t>
            </a:r>
          </a:p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Honest, source-grouped held-out tuning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525780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00200"/>
            <a:ext cx="5257800" cy="54864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Challenges &amp;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RTX 4060 OOM at batch 8 → fixed with batch 2 × accum 4</a:t>
            </a:r>
          </a:p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A merged refactor PR briefly broke evaluate.py</a:t>
            </a:r>
          </a:p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Found PsiloQA's own paper already ran our first “novel idea”</a:t>
            </a:r>
          </a:p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Found and disclosed a validation leak in checkpoint selection</a:t>
            </a:r>
          </a:p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Per-task threshold tuning found a real +4.4 F1 gain on Summary</a:t>
            </a:r>
          </a:p>
          <a:p>
            <a:pPr marL="182880" indent="-182880">
              <a:spcAft>
                <a:spcPts val="1000"/>
              </a:spcAft>
              <a:buFont typeface="Calibri"/>
              <a:buChar char="•"/>
            </a:pPr>
            <a:r>
              <a:rPr sz="1200" b="0">
                <a:solidFill>
                  <a:srgbClr val="1F2D2D"/>
                </a:solidFill>
                <a:latin typeface="Calibri"/>
              </a:rPr>
              <a:t>Planned: class-weighted retraining, targeting Summary's 3% token sparsity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EE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943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F2D2D"/>
                </a:solidFill>
                <a:latin typeface="Calibri"/>
              </a:rPr>
              <a:t>Auditing our own methodology, not just the paper's, </a:t>
            </a:r>
            <a:r>
              <a:rPr sz="1250" b="0">
                <a:solidFill>
                  <a:srgbClr val="1F2D2D"/>
                </a:solidFill>
                <a:latin typeface="Calibri"/>
              </a:rPr>
              <a:t>is the same standard the 2025 literature asks this class of detector to meet.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6B"/>
                </a:solidFill>
                <a:latin typeface="Calibri"/>
              </a:rPr>
              <a:t>LettuceDetect: Literature Survey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16002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first: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considered training on PsiloQA and reporting it as new, but PsiloQA’s own Table 4 already does exactly that, using LettuceDetect itself as one of the tested models.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5B6B6B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31520" y="2688336"/>
            <a:ext cx="1234440" cy="292608"/>
          </a:xfrm>
          <a:prstGeom prst="roundRect">
            <a:avLst>
              <a:gd name="adj" fmla="val 156250"/>
            </a:avLst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31520" y="26883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9808" y="3054096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RAGTruth-trained ≠ PsiloQA-trained OOD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808" y="354787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detectors disagree by up to 45% IoU once evaluated out-of-domain (Mu-SHROOM).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096512" y="3360420"/>
            <a:ext cx="201168" cy="182880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325112" y="2834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C1440E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507992" y="2688336"/>
            <a:ext cx="1234440" cy="292608"/>
          </a:xfrm>
          <a:prstGeom prst="roundRect">
            <a:avLst>
              <a:gd name="adj" fmla="val 156250"/>
            </a:avLst>
          </a:prstGeom>
          <a:solidFill>
            <a:srgbClr val="C1440E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507992" y="26883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26280" y="3054096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training untested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26280" y="354787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only ever pits the two datasets against each other, and never trains on both together.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872984" y="3360420"/>
            <a:ext cx="201168" cy="182880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101584" y="2834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284464" y="2688336"/>
            <a:ext cx="1234440" cy="292608"/>
          </a:xfrm>
          <a:prstGeom prst="roundRect">
            <a:avLst>
              <a:gd name="adj" fmla="val 156250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284464" y="26883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STUDY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302752" y="3054096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on both, test cross-dataset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302752" y="354787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RAGTruth + PsiloQA combined training, evaluated on both test sets.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434340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77240" y="4343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best of our literature review, </a:t>
            </a:r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no prior study evaluating combined RAGTruth + PsiloQA training for cross-dataset generalization.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53035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A3A3F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22960" y="54132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training LettuceDetect on combined RAGTruth + PsiloQA data reduce the cross-dataset generalization gap compared with training on either dataset alone? This is yet to be experimentally tested.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27632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1627632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RAGTruth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606040" y="2002536"/>
            <a:ext cx="256032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971800" y="1627632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971800" y="1627632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-base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2002536"/>
            <a:ext cx="256032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394960" y="1627632"/>
            <a:ext cx="6035040" cy="411480"/>
          </a:xfrm>
          <a:prstGeom prst="roundRect">
            <a:avLst>
              <a:gd name="adj" fmla="val 11111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532120" y="162763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F1 on RAGTruth test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2130552"/>
            <a:ext cx="6035040" cy="411480"/>
          </a:xfrm>
          <a:prstGeom prst="roundRect">
            <a:avLst>
              <a:gd name="adj" fmla="val 11111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532120" y="213055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Cross-dataset: F1 on PsiloQA-EN test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265176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48640" y="2651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PsiloQA-EN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2606040" y="3026664"/>
            <a:ext cx="256032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2971800" y="265176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971800" y="2651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-base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0" y="3026664"/>
            <a:ext cx="256032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394960" y="2651760"/>
            <a:ext cx="6035040" cy="411480"/>
          </a:xfrm>
          <a:prstGeom prst="roundRect">
            <a:avLst>
              <a:gd name="adj" fmla="val 11111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532120" y="26517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F1 on PsiloQA-EN test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394960" y="3154680"/>
            <a:ext cx="6035040" cy="411480"/>
          </a:xfrm>
          <a:prstGeom prst="roundRect">
            <a:avLst>
              <a:gd name="adj" fmla="val 11111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532120" y="31546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Cross-dataset: F1 on RAGTruth test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3675888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48640" y="3675888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RAGTruth +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PsiloQA-EN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2606040" y="4050792"/>
            <a:ext cx="256032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971800" y="3675888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971800" y="3675888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-base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0" y="4050792"/>
            <a:ext cx="256032" cy="164592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394960" y="3675888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D7F2EC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532120" y="3675888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on both test sets (combined)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48640" y="4700016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0A3A3F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22960" y="470001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for all three runs: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Example-level F1  •  Span-level F1  •  Expected Calibration Error (ECE)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48640" y="52669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48640" y="5559552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LettuceDetect-base performance on RAGTruth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RAGTruth → PsiloQA cross-dataset performance drop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172200" y="5559552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combined training reduces that gap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ECE across the three training configurations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Combined-training experiment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Eval: In-Domain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Eval: Cross-Dataset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RAGTruth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(core reimplementation)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on RAGTruth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on PsiloQA-EN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PsiloQA-English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on PsiloQA-EN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on RAGTruth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RAGTruth + PsiloQA-EN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(combined)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on both test 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37083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Expected Calibration Error (ECE) reported for all three configurations, the same metric HALT-RAG uses.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4736592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713232" y="496519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pic>
        <p:nvPicPr>
          <p:cNvPr id="10" name="Image 1" descr="/home/claude/deck/icon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3" y="5085893"/>
            <a:ext cx="261518" cy="261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4846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added compute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371600" y="5166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 training runs, not a post-hoc tweak.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217920" y="4736592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382512" y="496519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pic>
        <p:nvPicPr>
          <p:cNvPr id="15" name="Image 2" descr="/home/claude/deck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3" y="5085893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40880" y="4846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specific number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7040880" y="5166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45% IoU gap, not a general warning.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48640" y="5605272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713232" y="58338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pic>
        <p:nvPicPr>
          <p:cNvPr id="20" name="Image 3" descr="/home/claude/deck/icon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5954573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715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Subsumes the OOD idea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371600" y="6035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RAGTruth → PsiloQA becomes a real OOD test.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217920" y="5605272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382512" y="58338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pic>
        <p:nvPicPr>
          <p:cNvPr id="25" name="Image 4" descr="/home/claude/deck/icons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213" y="5954573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5715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 either way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7040880" y="6035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non-result is a genuine finding.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5 project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5" name="Image 0" descr="/home/claude/deck/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863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1706880" cy="1051560"/>
          </a:xfrm>
          <a:prstGeom prst="roundRect">
            <a:avLst>
              <a:gd name="adj" fmla="val 608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1783080"/>
            <a:ext cx="170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3504" y="2112264"/>
            <a:ext cx="1597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alignment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69236" y="2144268"/>
            <a:ext cx="109728" cy="146304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392680" y="1691640"/>
            <a:ext cx="1706880" cy="1051560"/>
          </a:xfrm>
          <a:prstGeom prst="roundRect">
            <a:avLst>
              <a:gd name="adj" fmla="val 608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392680" y="1783080"/>
            <a:ext cx="170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447544" y="2112264"/>
            <a:ext cx="1597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3276" y="2144268"/>
            <a:ext cx="109728" cy="146304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236720" y="1691640"/>
            <a:ext cx="1706880" cy="1051560"/>
          </a:xfrm>
          <a:prstGeom prst="roundRect">
            <a:avLst>
              <a:gd name="adj" fmla="val 608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236720" y="1783080"/>
            <a:ext cx="170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91584" y="2112264"/>
            <a:ext cx="1597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baseline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57316" y="2144268"/>
            <a:ext cx="109728" cy="146304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080760" y="1691640"/>
            <a:ext cx="1706880" cy="1051560"/>
          </a:xfrm>
          <a:prstGeom prst="roundRect">
            <a:avLst>
              <a:gd name="adj" fmla="val 6087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080760" y="1783080"/>
            <a:ext cx="170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135624" y="2112264"/>
            <a:ext cx="1597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PsiloQA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runs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801356" y="2144268"/>
            <a:ext cx="109728" cy="146304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924800" y="1691640"/>
            <a:ext cx="1706880" cy="1051560"/>
          </a:xfrm>
          <a:prstGeom prst="roundRect">
            <a:avLst>
              <a:gd name="adj" fmla="val 608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924800" y="1783080"/>
            <a:ext cx="170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979664" y="2112264"/>
            <a:ext cx="1597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(ECE) + writeup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645396" y="2144268"/>
            <a:ext cx="109728" cy="146304"/>
          </a:xfrm>
          <a:prstGeom prst="rightArrow">
            <a:avLst/>
          </a:prstGeom>
          <a:solidFill>
            <a:srgbClr val="5B6B6B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9768840" y="1691640"/>
            <a:ext cx="1706880" cy="1051560"/>
          </a:xfrm>
          <a:prstGeom prst="roundRect">
            <a:avLst>
              <a:gd name="adj" fmla="val 6087"/>
            </a:avLst>
          </a:prstGeom>
          <a:solidFill>
            <a:srgbClr val="0A3A3F"/>
          </a:solidFill>
          <a:ln/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9768840" y="1783080"/>
            <a:ext cx="170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823704" y="2112264"/>
            <a:ext cx="1597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48640" y="2834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16-week sem-5 plan (from project brief), compressed to five phases plus a final synthesis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324612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03504" y="3300984"/>
            <a:ext cx="159715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data_prep.py pipeline; ingest RAGTruth triples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2392680" y="324612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447544" y="3300984"/>
            <a:ext cx="159715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ModernBERT-base, from-scratch training loop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236720" y="324612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291584" y="3300984"/>
            <a:ext cx="159715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Example-level &amp; span-level F1 on RAGTruth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80760" y="324612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135624" y="3300984"/>
            <a:ext cx="159715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RAGTruth-only, PsiloQA-only, combined (3 runs)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924800" y="324612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7979664" y="3300984"/>
            <a:ext cx="159715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ECE across all 3 configs; final writeup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9768840" y="324612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EEF6F5"/>
          </a:solidFill>
          <a:ln w="12700">
            <a:solidFill>
              <a:srgbClr val="D7E6E4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9823704" y="3300984"/>
            <a:ext cx="159715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→ OOD comparison → combined model → calibration → analysis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48640" y="44348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731520" y="45079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18K</a:t>
            </a:r>
            <a:endParaRPr lang="en-US" sz="3400" dirty="0"/>
          </a:p>
        </p:txBody>
      </p:sp>
      <p:sp>
        <p:nvSpPr>
          <p:cNvPr id="44" name="Text 41"/>
          <p:cNvSpPr/>
          <p:nvPr/>
        </p:nvSpPr>
        <p:spPr>
          <a:xfrm>
            <a:off x="731520" y="50566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RAGTruth triples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 · 6 LLMs/item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343400" y="44348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526280" y="45079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150M</a:t>
            </a:r>
            <a:endParaRPr lang="en-US" sz="3400" dirty="0"/>
          </a:p>
        </p:txBody>
      </p:sp>
      <p:sp>
        <p:nvSpPr>
          <p:cNvPr id="47" name="Text 44"/>
          <p:cNvSpPr/>
          <p:nvPr/>
        </p:nvSpPr>
        <p:spPr>
          <a:xfrm>
            <a:off x="4526280" y="50566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ModernBERT-base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138160" y="44348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2D3436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8321040" y="45079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77.18</a:t>
            </a:r>
            <a:endParaRPr lang="en-US" sz="3400" dirty="0"/>
          </a:p>
        </p:txBody>
      </p:sp>
      <p:sp>
        <p:nvSpPr>
          <p:cNvPr id="50" name="Text 47"/>
          <p:cNvSpPr/>
          <p:nvPr/>
        </p:nvSpPr>
        <p:spPr>
          <a:xfrm>
            <a:off x="8321040" y="50566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example-level F1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was 76.07)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A3A3F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not calling their pip package. We’re building the pipeline from scratch: label alignment, model, training loop, both metrics.</a:t>
            </a:r>
            <a:endParaRPr lang="en-US" sz="1450" dirty="0"/>
          </a:p>
        </p:txBody>
      </p:sp>
      <p:sp>
        <p:nvSpPr>
          <p:cNvPr id="53" name="Text 5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LettuceDetect: Literature Survey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pic>
        <p:nvPicPr>
          <p:cNvPr id="4" name="Image 0" descr="/home/claude/deck/icons/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702259"/>
            <a:ext cx="332842" cy="3328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63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Kovács, A. &amp; Recski, G. (2025). LettuceDetect. arXiv:2502.17125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Niu, C. et al. (2024). RAGTruth. ACL 2024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Manakul, P. et al. (2023). SelfCheckGPT. arXiv:2303.08896, EMNLP 2023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Belyi, M. et al. (2024). Luna. arXiv:2406.00975, COLING 2025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Song, J. et al. (2024). RAG-HAT. EMNLP 2024 Industry Track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Sun, Z. et al. (2024/25). ReDeEP. arXiv:2410.11414, ICLR 2025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33832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Dubanowska, K. et al. (2025). OOD generalization. EMNLP 2025 Findings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Turk-LettuceDetect (2025). arXiv:2509.17671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PsiloQA (2025). arXiv:2510.04849, EMNLP 2025 Findings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Ridder, F. et al. (2026). RAGognizer. arXiv:2604.15945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HALT-RAG (2025). arXiv:2509.07475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2026-09-06T05:47:56Z</dcterms:created>
  <dcterms:modified xsi:type="dcterms:W3CDTF">2026-09-06T05:47:56Z</dcterms:modified>
</cp:coreProperties>
</file>