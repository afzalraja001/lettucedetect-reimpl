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2" r:id="rId23"/>
    <p:sldId id="273" r:id="rId24"/>
    <p:sldId id="274" r:id="rId25"/>
    <p:sldId id="275" r:id="rId26"/>
    <p:sldId id="276" r:id="rId27"/>
    <p:sldId id="277" r:id="rId28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8.xml"/><Relationship Id="rId14" Type="http://schemas.openxmlformats.org/officeDocument/2006/relationships/slide" Target="slides/slide19.xml"/><Relationship Id="rId15" Type="http://schemas.openxmlformats.org/officeDocument/2006/relationships/slide" Target="slides/slide20.xml"/><Relationship Id="rId16" Type="http://schemas.openxmlformats.org/officeDocument/2006/relationships/slide" Target="slides/slide21.xml"/><Relationship Id="rId17" Type="http://schemas.openxmlformats.org/officeDocument/2006/relationships/slide" Target="slides/slide22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Example-level F1</c:v>
                </c:pt>
              </c:strCache>
            </c:strRef>
          </c:tx>
          <c:spPr>
            <a:solidFill>
              <a:srgbClr val="5B6B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6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B6B6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5B6B6B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GPT-3.5
prompting</c:v>
                  </c:pt>
                  <c:pt idx="1">
                    <c:v>SelfCheck
GPT</c:v>
                  </c:pt>
                  <c:pt idx="2">
                    <c:v>GPT-4-turbo
prompting</c:v>
                  </c:pt>
                  <c:pt idx="3">
                    <c:v>Luna</c:v>
                  </c:pt>
                  <c:pt idx="4">
                    <c:v>Lettuce
Detect-base</c:v>
                  </c:pt>
                  <c:pt idx="5">
                    <c:v>Fine-tuned
Llama-2-13B</c:v>
                  </c:pt>
                  <c:pt idx="6">
                    <c:v>Lettuce
Detect-large</c:v>
                  </c:pt>
                  <c:pt idx="7">
                    <c:v>RAG-HAT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52.9</c:v>
                </c:pt>
                <c:pt idx="1">
                  <c:v>58.8</c:v>
                </c:pt>
                <c:pt idx="2">
                  <c:v>63.4</c:v>
                </c:pt>
                <c:pt idx="3">
                  <c:v>65.4</c:v>
                </c:pt>
                <c:pt idx="4">
                  <c:v>76.07</c:v>
                </c:pt>
                <c:pt idx="5">
                  <c:v>78.7</c:v>
                </c:pt>
                <c:pt idx="6">
                  <c:v>79.22</c:v>
                </c:pt>
                <c:pt idx="7">
                  <c:v>83.9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F2D2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</c:scaling>
        <c:delete val="0"/>
        <c:axPos val="l"/>
        <c:majorGridlines>
          <c:spPr>
            <a:ln w="9525" cap="flat">
              <a:solidFill>
                <a:srgbClr val="D7E6E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Example-level F1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5B6B6B"/>
            </a:solidFill>
            <a:ln>
              <a:noFill/>
            </a:ln>
          </c:spPr>
          <c:dPt>
            <c:idx val="0"/>
            <c:spPr>
              <a:solidFill>
                <a:srgbClr val="5B6B6B"/>
              </a:solidFill>
            </c:spPr>
          </c:dPt>
          <c:dPt>
            <c:idx val="1"/>
            <c:spPr>
              <a:solidFill>
                <a:srgbClr val="5B6B6B"/>
              </a:solidFill>
            </c:spPr>
          </c:dPt>
          <c:dPt>
            <c:idx val="2"/>
            <c:spPr>
              <a:solidFill>
                <a:srgbClr val="5B6B6B"/>
              </a:solidFill>
            </c:spPr>
          </c:dPt>
          <c:dPt>
            <c:idx val="3"/>
            <c:spPr>
              <a:solidFill>
                <a:srgbClr val="5B6B6B"/>
              </a:solidFill>
            </c:spPr>
          </c:dPt>
          <c:dPt>
            <c:idx val="4"/>
            <c:spPr>
              <a:solidFill>
                <a:srgbClr val="028090"/>
              </a:solidFill>
            </c:spPr>
          </c:dPt>
          <c:dPt>
            <c:idx val="5"/>
            <c:spPr>
              <a:solidFill>
                <a:srgbClr val="02C39A"/>
              </a:solidFill>
            </c:spPr>
          </c:dPt>
          <c:dPt>
            <c:idx val="6"/>
            <c:spPr>
              <a:solidFill>
                <a:srgbClr val="5B6B6B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1000" b="1">
                    <a:solidFill>
                      <a:srgbClr val="1F2D2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GPT-3.5
prompting</c:v>
                </c:pt>
                <c:pt idx="1">
                  <c:v>SelfCheckGPT</c:v>
                </c:pt>
                <c:pt idx="2">
                  <c:v>GPT-4-turbo
prompting</c:v>
                </c:pt>
                <c:pt idx="3">
                  <c:v>Luna</c:v>
                </c:pt>
                <c:pt idx="4">
                  <c:v>LettuceDetect-
base (paper)</c:v>
                </c:pt>
                <c:pt idx="5">
                  <c:v>Ours</c:v>
                </c:pt>
                <c:pt idx="6">
                  <c:v>RAG-HAT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52.9</c:v>
                </c:pt>
                <c:pt idx="1">
                  <c:v>58.8</c:v>
                </c:pt>
                <c:pt idx="2">
                  <c:v>63.4</c:v>
                </c:pt>
                <c:pt idx="3">
                  <c:v>65.4</c:v>
                </c:pt>
                <c:pt idx="4">
                  <c:v>76.07</c:v>
                </c:pt>
                <c:pt idx="5">
                  <c:v>77.18</c:v>
                </c:pt>
                <c:pt idx="6">
                  <c:v>83.9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8D7"/>
            </a:solidFill>
          </a:ln>
        </c:spPr>
        <c:txPr>
          <a:bodyPr/>
          <a:lstStyle/>
          <a:p>
            <a:pPr>
              <a:defRPr sz="105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5.0"/>
        </c:scaling>
        <c:delete val="0"/>
        <c:axPos val="l"/>
        <c:majorGridlines>
          <c:spPr>
            <a:ln w="6350">
              <a:solidFill>
                <a:srgbClr val="E4EAE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28090"/>
            </a:solidFill>
            <a:ln>
              <a:noFill/>
            </a:ln>
          </c:spPr>
          <c:dLbls>
            <c:numFmt formatCode="0.0" sourceLinked="0"/>
            <c:txPr>
              <a:bodyPr/>
              <a:lstStyle/>
              <a:p>
                <a:pPr>
                  <a:defRPr sz="1000" b="1">
                    <a:solidFill>
                      <a:srgbClr val="1F2D2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Data-to-text</c:v>
                </c:pt>
                <c:pt idx="1">
                  <c:v>QA</c:v>
                </c:pt>
                <c:pt idx="2">
                  <c:v>Summarization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88.9</c:v>
                </c:pt>
                <c:pt idx="1">
                  <c:v>65.5</c:v>
                </c:pt>
                <c:pt idx="2">
                  <c:v>64.6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0A896"/>
            </a:solidFill>
            <a:ln>
              <a:noFill/>
            </a:ln>
          </c:spPr>
          <c:dLbls>
            <c:numFmt formatCode="0.0" sourceLinked="0"/>
            <c:txPr>
              <a:bodyPr/>
              <a:lstStyle/>
              <a:p>
                <a:pPr>
                  <a:defRPr sz="1000" b="1">
                    <a:solidFill>
                      <a:srgbClr val="1F2D2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Data-to-text</c:v>
                </c:pt>
                <c:pt idx="1">
                  <c:v>QA</c:v>
                </c:pt>
                <c:pt idx="2">
                  <c:v>Summarization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85.8</c:v>
                </c:pt>
                <c:pt idx="1">
                  <c:v>68.8</c:v>
                </c:pt>
                <c:pt idx="2">
                  <c:v>45.6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02C39A"/>
            </a:solidFill>
            <a:ln>
              <a:noFill/>
            </a:ln>
          </c:spPr>
          <c:dLbls>
            <c:numFmt formatCode="0.0" sourceLinked="0"/>
            <c:txPr>
              <a:bodyPr/>
              <a:lstStyle/>
              <a:p>
                <a:pPr>
                  <a:defRPr sz="1000" b="1">
                    <a:solidFill>
                      <a:srgbClr val="1F2D2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Data-to-text</c:v>
                </c:pt>
                <c:pt idx="1">
                  <c:v>QA</c:v>
                </c:pt>
                <c:pt idx="2">
                  <c:v>Summarization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87.3</c:v>
                </c:pt>
                <c:pt idx="1">
                  <c:v>67.1</c:v>
                </c:pt>
                <c:pt idx="2">
                  <c:v>53.4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8D7"/>
            </a:solidFill>
          </a:ln>
        </c:spPr>
        <c:txPr>
          <a:bodyPr/>
          <a:lstStyle/>
          <a:p>
            <a:pPr>
              <a:defRPr sz="13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 w="6350">
              <a:solidFill>
                <a:srgbClr val="E4EAE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Example F1</c:v>
                </c:pt>
              </c:strCache>
            </c:strRef>
          </c:tx>
          <c:spPr>
            <a:ln w="31750">
              <a:solidFill>
                <a:srgbClr val="028090"/>
              </a:solidFill>
            </a:ln>
          </c:spPr>
          <c:marker>
            <c:symbol val="diamond"/>
            <c:spPr>
              <a:solidFill>
                <a:srgbClr val="028090"/>
              </a:solidFill>
              <a:ln>
                <a:solidFill>
                  <a:srgbClr val="028090"/>
                </a:solidFill>
              </a:ln>
            </c:spPr>
          </c:marker>
          <c:cat>
            <c:strRef>
              <c:f>Sheet1!$A$2:$A$20</c:f>
              <c:strCache>
                <c:ptCount val="19"/>
                <c:pt idx="0">
                  <c:v>0.05</c:v>
                </c:pt>
                <c:pt idx="1">
                  <c:v>0.10</c:v>
                </c:pt>
                <c:pt idx="2">
                  <c:v>0.15</c:v>
                </c:pt>
                <c:pt idx="3">
                  <c:v>0.20</c:v>
                </c:pt>
                <c:pt idx="4">
                  <c:v>0.25</c:v>
                </c:pt>
                <c:pt idx="5">
                  <c:v>0.30</c:v>
                </c:pt>
                <c:pt idx="6">
                  <c:v>0.35</c:v>
                </c:pt>
                <c:pt idx="7">
                  <c:v>0.40</c:v>
                </c:pt>
                <c:pt idx="8">
                  <c:v>0.45</c:v>
                </c:pt>
                <c:pt idx="9">
                  <c:v>0.50</c:v>
                </c:pt>
                <c:pt idx="10">
                  <c:v>0.55</c:v>
                </c:pt>
                <c:pt idx="11">
                  <c:v>0.60</c:v>
                </c:pt>
                <c:pt idx="12">
                  <c:v>0.65</c:v>
                </c:pt>
                <c:pt idx="13">
                  <c:v>0.70</c:v>
                </c:pt>
                <c:pt idx="14">
                  <c:v>0.75</c:v>
                </c:pt>
                <c:pt idx="15">
                  <c:v>0.80</c:v>
                </c:pt>
                <c:pt idx="16">
                  <c:v>0.85</c:v>
                </c:pt>
                <c:pt idx="17">
                  <c:v>0.90</c:v>
                </c:pt>
                <c:pt idx="18">
                  <c:v>0.95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65.8</c:v>
                </c:pt>
                <c:pt idx="1">
                  <c:v>71.0</c:v>
                </c:pt>
                <c:pt idx="2">
                  <c:v>73.0</c:v>
                </c:pt>
                <c:pt idx="3">
                  <c:v>74.4</c:v>
                </c:pt>
                <c:pt idx="4">
                  <c:v>75.5</c:v>
                </c:pt>
                <c:pt idx="5">
                  <c:v>76.6</c:v>
                </c:pt>
                <c:pt idx="6">
                  <c:v>77.1</c:v>
                </c:pt>
                <c:pt idx="7">
                  <c:v>77.8</c:v>
                </c:pt>
                <c:pt idx="8">
                  <c:v>77.3</c:v>
                </c:pt>
                <c:pt idx="9">
                  <c:v>77.2</c:v>
                </c:pt>
                <c:pt idx="10">
                  <c:v>77.3</c:v>
                </c:pt>
                <c:pt idx="11">
                  <c:v>76.9</c:v>
                </c:pt>
                <c:pt idx="12">
                  <c:v>76.0</c:v>
                </c:pt>
                <c:pt idx="13">
                  <c:v>74.7</c:v>
                </c:pt>
                <c:pt idx="14">
                  <c:v>73.2</c:v>
                </c:pt>
                <c:pt idx="15">
                  <c:v>71.2</c:v>
                </c:pt>
                <c:pt idx="16">
                  <c:v>67.0</c:v>
                </c:pt>
                <c:pt idx="17">
                  <c:v>58.7</c:v>
                </c:pt>
                <c:pt idx="18">
                  <c:v>43.5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Span F1</c:v>
                </c:pt>
              </c:strCache>
            </c:strRef>
          </c:tx>
          <c:spPr>
            <a:ln w="31750">
              <a:solidFill>
                <a:srgbClr val="02C39A"/>
              </a:solidFill>
            </a:ln>
          </c:spPr>
          <c:marker>
            <c:symbol val="diamond"/>
            <c:spPr>
              <a:solidFill>
                <a:srgbClr val="02C39A"/>
              </a:solidFill>
              <a:ln>
                <a:solidFill>
                  <a:srgbClr val="02C39A"/>
                </a:solidFill>
              </a:ln>
            </c:spPr>
          </c:marker>
          <c:cat>
            <c:strRef>
              <c:f>Sheet1!$A$2:$A$20</c:f>
              <c:strCache>
                <c:ptCount val="19"/>
                <c:pt idx="0">
                  <c:v>0.05</c:v>
                </c:pt>
                <c:pt idx="1">
                  <c:v>0.10</c:v>
                </c:pt>
                <c:pt idx="2">
                  <c:v>0.15</c:v>
                </c:pt>
                <c:pt idx="3">
                  <c:v>0.20</c:v>
                </c:pt>
                <c:pt idx="4">
                  <c:v>0.25</c:v>
                </c:pt>
                <c:pt idx="5">
                  <c:v>0.30</c:v>
                </c:pt>
                <c:pt idx="6">
                  <c:v>0.35</c:v>
                </c:pt>
                <c:pt idx="7">
                  <c:v>0.40</c:v>
                </c:pt>
                <c:pt idx="8">
                  <c:v>0.45</c:v>
                </c:pt>
                <c:pt idx="9">
                  <c:v>0.50</c:v>
                </c:pt>
                <c:pt idx="10">
                  <c:v>0.55</c:v>
                </c:pt>
                <c:pt idx="11">
                  <c:v>0.60</c:v>
                </c:pt>
                <c:pt idx="12">
                  <c:v>0.65</c:v>
                </c:pt>
                <c:pt idx="13">
                  <c:v>0.70</c:v>
                </c:pt>
                <c:pt idx="14">
                  <c:v>0.75</c:v>
                </c:pt>
                <c:pt idx="15">
                  <c:v>0.80</c:v>
                </c:pt>
                <c:pt idx="16">
                  <c:v>0.85</c:v>
                </c:pt>
                <c:pt idx="17">
                  <c:v>0.90</c:v>
                </c:pt>
                <c:pt idx="18">
                  <c:v>0.95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32.8</c:v>
                </c:pt>
                <c:pt idx="1">
                  <c:v>42.6</c:v>
                </c:pt>
                <c:pt idx="2">
                  <c:v>47.4</c:v>
                </c:pt>
                <c:pt idx="3">
                  <c:v>51.0</c:v>
                </c:pt>
                <c:pt idx="4">
                  <c:v>55.1</c:v>
                </c:pt>
                <c:pt idx="5">
                  <c:v>58.2</c:v>
                </c:pt>
                <c:pt idx="6">
                  <c:v>60.2</c:v>
                </c:pt>
                <c:pt idx="7">
                  <c:v>61.3</c:v>
                </c:pt>
                <c:pt idx="8">
                  <c:v>63.8</c:v>
                </c:pt>
                <c:pt idx="9">
                  <c:v>64.2</c:v>
                </c:pt>
                <c:pt idx="10">
                  <c:v>64.8</c:v>
                </c:pt>
                <c:pt idx="11">
                  <c:v>66.4</c:v>
                </c:pt>
                <c:pt idx="12">
                  <c:v>66.6</c:v>
                </c:pt>
                <c:pt idx="13">
                  <c:v>66.6</c:v>
                </c:pt>
                <c:pt idx="14">
                  <c:v>66.2</c:v>
                </c:pt>
                <c:pt idx="15">
                  <c:v>64.2</c:v>
                </c:pt>
                <c:pt idx="16">
                  <c:v>60.9</c:v>
                </c:pt>
                <c:pt idx="17">
                  <c:v>53.9</c:v>
                </c:pt>
                <c:pt idx="18">
                  <c:v>43.9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4EAE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7-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6-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Relationship Id="rId3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5-1.png"/><Relationship Id="rId3" Type="http://schemas.openxmlformats.org/officeDocument/2006/relationships/chart" Target="../charts/char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8-1.png"/><Relationship Id="rId3" Type="http://schemas.openxmlformats.org/officeDocument/2006/relationships/chart" Target="../charts/char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3-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663440"/>
            <a:ext cx="4023360" cy="402336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4864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5" name="Image 0" descr="/home/claude/deck/icons/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7022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57607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5 MINOR RESEARCH PROJECT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228600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LettuceDetect</a:t>
            </a:r>
            <a:endParaRPr lang="en-US" sz="5600" dirty="0"/>
          </a:p>
        </p:txBody>
      </p:sp>
      <p:sp>
        <p:nvSpPr>
          <p:cNvPr id="8" name="Text 5"/>
          <p:cNvSpPr/>
          <p:nvPr/>
        </p:nvSpPr>
        <p:spPr>
          <a:xfrm>
            <a:off x="548640" y="33375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Reimplementing and Extending a Hallucination Detector for RAG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66928" y="4160520"/>
            <a:ext cx="128016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434340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AF6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"Can we trust what a RAG system tells us — and can we trust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EAF6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detector that checks it?"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5989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&amp; Presentation  |  Paper: Kovács &amp; Recski, Feb 2025 · arXiv:2502.17125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 correct context doesn’t guarantee a correct 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C1440E"/>
          </a:solidFill>
          <a:ln/>
        </p:spPr>
      </p:sp>
      <p:pic>
        <p:nvPicPr>
          <p:cNvPr id="5" name="Image 0" descr="/home/claude/deck/icons/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002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48640" y="160020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57984" y="1965960"/>
            <a:ext cx="393192" cy="182880"/>
          </a:xfrm>
          <a:prstGeom prst="rightArrow">
            <a:avLst/>
          </a:prstGeom>
          <a:solidFill>
            <a:srgbClr val="5B6B6B"/>
          </a:solidFill>
          <a:ln/>
        </p:spPr>
      </p:sp>
      <p:sp>
        <p:nvSpPr>
          <p:cNvPr id="9" name="Shape 6"/>
          <p:cNvSpPr/>
          <p:nvPr/>
        </p:nvSpPr>
        <p:spPr>
          <a:xfrm>
            <a:off x="2606040" y="16002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606040" y="160020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15384" y="1965960"/>
            <a:ext cx="393192" cy="182880"/>
          </a:xfrm>
          <a:prstGeom prst="rightArrow">
            <a:avLst/>
          </a:prstGeom>
          <a:solidFill>
            <a:srgbClr val="5B6B6B"/>
          </a:solidFill>
          <a:ln/>
        </p:spPr>
      </p:sp>
      <p:sp>
        <p:nvSpPr>
          <p:cNvPr id="12" name="Shape 9"/>
          <p:cNvSpPr/>
          <p:nvPr/>
        </p:nvSpPr>
        <p:spPr>
          <a:xfrm>
            <a:off x="4663440" y="16002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663440" y="160020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272784" y="1965960"/>
            <a:ext cx="393192" cy="182880"/>
          </a:xfrm>
          <a:prstGeom prst="rightArrow">
            <a:avLst/>
          </a:prstGeom>
          <a:solidFill>
            <a:srgbClr val="5B6B6B"/>
          </a:solidFill>
          <a:ln/>
        </p:spPr>
      </p:sp>
      <p:sp>
        <p:nvSpPr>
          <p:cNvPr id="15" name="Shape 12"/>
          <p:cNvSpPr/>
          <p:nvPr/>
        </p:nvSpPr>
        <p:spPr>
          <a:xfrm>
            <a:off x="6720840" y="16002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A3A3F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720840" y="160020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2834640"/>
            <a:ext cx="11064240" cy="1417320"/>
          </a:xfrm>
          <a:prstGeom prst="roundRect">
            <a:avLst>
              <a:gd name="adj" fmla="val 4516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" y="2999232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Eiffel Tower was completed in 1889.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"Completed in 1889,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C1440E"/>
                </a:solidFill>
                <a:highlight>
                  <a:srgbClr val="FBE4D8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designed by Gustave Eiffel and costing 7.8 million francs."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" y="437083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 text is true, but never stated in the context — unsupported, therefore a hallucination.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185"/>
            </a:avLst>
          </a:prstGeom>
          <a:solidFill>
            <a:srgbClr val="028090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4892040"/>
            <a:ext cx="105156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=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"unsupported by the given context" — not "false in the real world." This narrow definition is what makes the problem checkable by a program at all.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 — Literature Survey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existing detectors fell short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/home/claude/deck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73736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737360"/>
            <a:ext cx="5257800" cy="777240"/>
          </a:xfrm>
          <a:prstGeom prst="roundRect">
            <a:avLst>
              <a:gd name="adj" fmla="val 9412"/>
            </a:avLst>
          </a:prstGeom>
          <a:solidFill>
            <a:srgbClr val="028090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2121408"/>
            <a:ext cx="5257800" cy="3931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173736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LLM-as-Judge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22960" y="25146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GPT-4 prompted to check the answer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30175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3310128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✓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accuracy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3739896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2960" y="4032504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✗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Doubles/triples inference cost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4325112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✗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real latency at production scale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355080" y="1737360"/>
            <a:ext cx="52578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55080" y="1737360"/>
            <a:ext cx="5257800" cy="777240"/>
          </a:xfrm>
          <a:prstGeom prst="roundRect">
            <a:avLst>
              <a:gd name="adj" fmla="val 9412"/>
            </a:avLst>
          </a:prstGeom>
          <a:solidFill>
            <a:srgbClr val="00A896"/>
          </a:solidFill>
          <a:ln/>
        </p:spPr>
      </p:sp>
      <p:sp>
        <p:nvSpPr>
          <p:cNvPr id="18" name="Shape 15"/>
          <p:cNvSpPr/>
          <p:nvPr/>
        </p:nvSpPr>
        <p:spPr>
          <a:xfrm>
            <a:off x="6355080" y="2121408"/>
            <a:ext cx="5257800" cy="3931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Text 16"/>
          <p:cNvSpPr/>
          <p:nvPr/>
        </p:nvSpPr>
        <p:spPr>
          <a:xfrm>
            <a:off x="6629400" y="173736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Encoder Classifiers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629400" y="25146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Luna (DeBERTa-large, 440M)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629400" y="30175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629400" y="3310128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✓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fast inference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629400" y="3739896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629400" y="4032504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✗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512 tokens (BERT-family)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629400" y="4325112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✗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RAG contexts run 2,000–8,000 tokens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629400" y="4617720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✗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Physically blind to most evidence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0A3A3F"/>
          </a:solidFill>
          <a:ln/>
        </p:spPr>
      </p:sp>
      <p:sp>
        <p:nvSpPr>
          <p:cNvPr id="28" name="Text 25"/>
          <p:cNvSpPr/>
          <p:nvPr/>
        </p:nvSpPr>
        <p:spPr>
          <a:xfrm>
            <a:off x="822960" y="534924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was stuck between accurate-and-expensive and cheap-and-blind — nobody wanted a safety check that costs more than the thing it’s checking.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 — Literature Survey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field got here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/home/claude/deck/icons/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017520"/>
            <a:ext cx="10835640" cy="0"/>
          </a:xfrm>
          <a:prstGeom prst="line">
            <a:avLst/>
          </a:prstGeom>
          <a:noFill/>
          <a:ln w="38100">
            <a:solidFill>
              <a:srgbClr val="D7E6E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82880" y="2633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160020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432" y="166420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SelfCheckGPT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7432" y="202082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Zero-resource,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consistency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930527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537335" y="44074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354455" y="329184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81887" y="3355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RAGTruth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381887" y="371246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enabling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3284982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891790" y="2633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708910" y="160020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736342" y="166420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Luna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736342" y="202082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encoder,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639437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46245" y="44074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063365" y="329184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090797" y="3355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ReDeEP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090797" y="371246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White-box,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mechanistic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993892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600700" y="2633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417820" y="160020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45252" y="166420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RAG-HAT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45252" y="202082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 detector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DPO fix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7302627" y="2862072"/>
            <a:ext cx="310896" cy="310896"/>
          </a:xfrm>
          <a:prstGeom prst="ellipse">
            <a:avLst/>
          </a:prstGeom>
          <a:solidFill>
            <a:srgbClr val="02C39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955155" y="44074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6772275" y="329184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6799707" y="3355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LettuceDetect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799707" y="371246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8K context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8702802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309610" y="2633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26730" y="160020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54162" y="166420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Turk-LD / OOD study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54162" y="202082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+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 warning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10057257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664065" y="44074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481185" y="329184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508617" y="3355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PsiloQA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9508617" y="371246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14-lang, LLM-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data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11411712" y="2907792"/>
            <a:ext cx="219456" cy="21945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11018520" y="263347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10835640" y="160020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10863072" y="166420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RAGognizer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10863072" y="2020824"/>
            <a:ext cx="13167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folded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generator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9333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777240" y="580644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reacts to a specific gap in the one before it — a chain of reasoning, not a random list.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 — Literature Survey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Method-by-method comparison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/home/claude/deck/icons/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572000"/>
        </p:xfrm>
        <a:graphic>
          <a:graphicData uri="http://schemas.openxmlformats.org/drawingml/2006/table">
            <a:tbl>
              <a:tblPr/>
              <a:tblGrid>
                <a:gridCol w="2331720"/>
                <a:gridCol w="640080"/>
                <a:gridCol w="1691640"/>
                <a:gridCol w="3200400"/>
                <a:gridCol w="3200400"/>
              </a:tblGrid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Advantage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Limitation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SelfCheckGPT [3] (2023)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(black-box)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training data or model access needed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Costly N-sample inference; not context-grounded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Luna [4] (2024)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440M (DeBERTa)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~97% cheaper than an LLM-judge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 512-token context ceiling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RAG-HAT [5] (2024)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8B (Llama-3)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F1; also mitigates via DPO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Heavy, closed-model (GPT-4) dependency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ReDeEP [6] (2024)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White-box probe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why — attention vs.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generator internals; no closed APIs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LettuceDetect-base [1] (2025)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150M (ModernBERT)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accuracy-efficiency trade-off; 8K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English-only; no calibration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LettuceDetect-large [1] (2025)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396M (ModernBERT)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F1, same architecture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limitations, larger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Turk-LettuceDetect [8] (2025)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~150–396M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multilingual (Turkish) variant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drop from translation noise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PsiloQA [9] (2025)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14-language dataset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Cheap, scalable, LLM-annotated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Labels not human-verified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RAGognizer [10] (2026)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Joint-trained 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separate inference-time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generator retraining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HALT-RAG [11] (2025)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NLI ensemble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 calibration error + abstention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Evaluated on HaluEval, not RAGTruth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*F1 = example-level F1 on RAGTruth as reported by each source paper, unless otherwise noted.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 — Literature Survey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CATALOG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detector was trained and tested 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/home/claude/deck/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160520"/>
        </p:xfrm>
        <a:graphic>
          <a:graphicData uri="http://schemas.openxmlformats.org/drawingml/2006/table">
            <a:tbl>
              <a:tblPr/>
              <a:tblGrid>
                <a:gridCol w="2148840"/>
                <a:gridCol w="2606040"/>
                <a:gridCol w="4937760"/>
                <a:gridCol w="1371600"/>
              </a:tblGrid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By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/ Content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RAGTruth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LettuceDetect, RAG-HAT, ReDeEP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~18K span-annotated triples; QA + data-to-text + summarization; 6 LLMs/item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WikiBio GPT-3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SelfCheckGPT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 bios → 1,908 sentences, manually labeled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Dolly (Accurate Context)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tasks with verified accurate context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Turkish-RAGTruth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Turk-LettuceDetect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Machine-translated RAGTruth, ~17,790 instances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Turkish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SQuAD-derived OOD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Dubanowska et al.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SQuAD passages via LLaMA-2-7B, OOD test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PsiloQA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PsiloQA paper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63,792 train / 2,897 test; GPT-4o auto-annotated spans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languages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RAGognize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RAGognizer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Naturally occurring closed-domain hallucinations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HaluEval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HALT-RAG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~35K QA / dialogue / summarization pairs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97880"/>
            <a:ext cx="11064240" cy="594360"/>
          </a:xfrm>
          <a:prstGeom prst="roundRect">
            <a:avLst>
              <a:gd name="adj" fmla="val 9231"/>
            </a:avLst>
          </a:prstGeom>
          <a:solidFill>
            <a:srgbClr val="028090"/>
          </a:solidFill>
          <a:ln/>
        </p:spPr>
      </p:sp>
      <p:sp>
        <p:nvSpPr>
          <p:cNvPr id="8" name="Text 4"/>
          <p:cNvSpPr/>
          <p:nvPr/>
        </p:nvSpPr>
        <p:spPr>
          <a:xfrm>
            <a:off x="777240" y="58978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reimplementation uses RAGTruth exclusively — the only dataset here that is public, human-annotated at span level, and directly comparable to LettuceDetect’s published numbers.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 — Literature Survey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LettuceDetect works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/home/claude/deck/icons/co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737360"/>
            <a:ext cx="1572768" cy="1371600"/>
          </a:xfrm>
          <a:prstGeom prst="roundRect">
            <a:avLst>
              <a:gd name="adj" fmla="val 5333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21792" y="1737360"/>
            <a:ext cx="14264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[CLS] Context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[SEP] Question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[SEP] Answer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2148840" y="2340864"/>
            <a:ext cx="329184" cy="164592"/>
          </a:xfrm>
          <a:prstGeom prst="rightArrow">
            <a:avLst/>
          </a:prstGeom>
          <a:solidFill>
            <a:srgbClr val="5B6B6B"/>
          </a:solidFill>
          <a:ln/>
        </p:spPr>
      </p:sp>
      <p:sp>
        <p:nvSpPr>
          <p:cNvPr id="9" name="Shape 6"/>
          <p:cNvSpPr/>
          <p:nvPr/>
        </p:nvSpPr>
        <p:spPr>
          <a:xfrm>
            <a:off x="2505456" y="1737360"/>
            <a:ext cx="1572768" cy="1371600"/>
          </a:xfrm>
          <a:prstGeom prst="roundRect">
            <a:avLst>
              <a:gd name="adj" fmla="val 5333"/>
            </a:avLst>
          </a:prstGeom>
          <a:solidFill>
            <a:srgbClr val="00A896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578608" y="1737360"/>
            <a:ext cx="14264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AutoTokenizer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(char offsets)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105656" y="2340864"/>
            <a:ext cx="329184" cy="164592"/>
          </a:xfrm>
          <a:prstGeom prst="rightArrow">
            <a:avLst/>
          </a:prstGeom>
          <a:solidFill>
            <a:srgbClr val="5B6B6B"/>
          </a:solidFill>
          <a:ln/>
        </p:spPr>
      </p:sp>
      <p:sp>
        <p:nvSpPr>
          <p:cNvPr id="12" name="Shape 9"/>
          <p:cNvSpPr/>
          <p:nvPr/>
        </p:nvSpPr>
        <p:spPr>
          <a:xfrm>
            <a:off x="4462272" y="1737360"/>
            <a:ext cx="1572768" cy="1371600"/>
          </a:xfrm>
          <a:prstGeom prst="roundRect">
            <a:avLst>
              <a:gd name="adj" fmla="val 5333"/>
            </a:avLst>
          </a:prstGeom>
          <a:solidFill>
            <a:srgbClr val="02C39A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535424" y="1737360"/>
            <a:ext cx="14264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062472" y="2340864"/>
            <a:ext cx="329184" cy="164592"/>
          </a:xfrm>
          <a:prstGeom prst="rightArrow">
            <a:avLst/>
          </a:prstGeom>
          <a:solidFill>
            <a:srgbClr val="5B6B6B"/>
          </a:solidFill>
          <a:ln/>
        </p:spPr>
      </p:sp>
      <p:sp>
        <p:nvSpPr>
          <p:cNvPr id="15" name="Shape 12"/>
          <p:cNvSpPr/>
          <p:nvPr/>
        </p:nvSpPr>
        <p:spPr>
          <a:xfrm>
            <a:off x="6419088" y="1737360"/>
            <a:ext cx="1572768" cy="1371600"/>
          </a:xfrm>
          <a:prstGeom prst="roundRect">
            <a:avLst>
              <a:gd name="adj" fmla="val 5333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492240" y="1737360"/>
            <a:ext cx="14264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token-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class. head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019288" y="2340864"/>
            <a:ext cx="329184" cy="164592"/>
          </a:xfrm>
          <a:prstGeom prst="rightArrow">
            <a:avLst/>
          </a:prstGeom>
          <a:solidFill>
            <a:srgbClr val="5B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375904" y="1737360"/>
            <a:ext cx="1572768" cy="1371600"/>
          </a:xfrm>
          <a:prstGeom prst="roundRect">
            <a:avLst>
              <a:gd name="adj" fmla="val 5333"/>
            </a:avLst>
          </a:prstGeom>
          <a:solidFill>
            <a:srgbClr val="00A896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449056" y="1737360"/>
            <a:ext cx="14264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Per-token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P(hallucinated)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9976104" y="2340864"/>
            <a:ext cx="329184" cy="164592"/>
          </a:xfrm>
          <a:prstGeom prst="rightArrow">
            <a:avLst/>
          </a:prstGeom>
          <a:solidFill>
            <a:srgbClr val="5B6B6B"/>
          </a:solidFill>
          <a:ln/>
        </p:spPr>
      </p:sp>
      <p:sp>
        <p:nvSpPr>
          <p:cNvPr id="21" name="Shape 18"/>
          <p:cNvSpPr/>
          <p:nvPr/>
        </p:nvSpPr>
        <p:spPr>
          <a:xfrm>
            <a:off x="10332720" y="1737360"/>
            <a:ext cx="1572768" cy="1371600"/>
          </a:xfrm>
          <a:prstGeom prst="roundRect">
            <a:avLst>
              <a:gd name="adj" fmla="val 5333"/>
            </a:avLst>
          </a:prstGeom>
          <a:solidFill>
            <a:srgbClr val="0A3A3F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10405872" y="1737360"/>
            <a:ext cx="142646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→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spans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48640" y="33375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detail: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and question tokens are labeled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C144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−100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(PyTorch’s "ignore in loss" sentinel) — the model reads them, but is graded only on its predictions for answer tokens.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4069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1" descr="/home/claude/deck/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4189781"/>
            <a:ext cx="261518" cy="26151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188720" y="40690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supervision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1188720" y="437083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300-token answer yields 300 training signals, not one.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4343400" y="4069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9" name="Image 2" descr="/home/claude/deck/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101" y="4189781"/>
            <a:ext cx="261518" cy="26151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983480" y="40690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Localizes the problem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4983480" y="437083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exactly which phrase is unsupported.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8138160" y="4069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3" name="Image 3" descr="/home/claude/dec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8861" y="4189781"/>
            <a:ext cx="261518" cy="26151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8778240" y="40690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falls out free</a:t>
            </a:r>
            <a:endParaRPr lang="en-US" sz="1300" dirty="0"/>
          </a:p>
        </p:txBody>
      </p:sp>
      <p:sp>
        <p:nvSpPr>
          <p:cNvPr id="35" name="Text 29"/>
          <p:cNvSpPr/>
          <p:nvPr/>
        </p:nvSpPr>
        <p:spPr>
          <a:xfrm>
            <a:off x="8778240" y="437083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OR across token predictions gives yes/no.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6667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777240" y="5349240"/>
            <a:ext cx="10607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reframe (token-level classification) wasn’t a new idea — it only became possible once a long-context encoder existed. Recognizing that timing is the paper’s real contribution.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 — Literature Survey</a:t>
            </a:r>
            <a:endParaRPr lang="en-US" sz="900" dirty="0"/>
          </a:p>
        </p:txBody>
      </p:sp>
      <p:sp>
        <p:nvSpPr>
          <p:cNvPr id="39" name="Text 33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enabler: ModernBERT’s long context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/home/claude/deck/icons/rul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/ DeBERTa (Luna)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22960" y="2212848"/>
            <a:ext cx="605790" cy="502920"/>
          </a:xfrm>
          <a:prstGeom prst="roundRect">
            <a:avLst>
              <a:gd name="adj" fmla="val 7273"/>
            </a:avLst>
          </a:prstGeom>
          <a:solidFill>
            <a:srgbClr val="5B6B6B"/>
          </a:solidFill>
          <a:ln/>
        </p:spPr>
      </p:sp>
      <p:sp>
        <p:nvSpPr>
          <p:cNvPr id="8" name="Text 5"/>
          <p:cNvSpPr/>
          <p:nvPr/>
        </p:nvSpPr>
        <p:spPr>
          <a:xfrm>
            <a:off x="1538478" y="2212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tokens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971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 (LettuceDetect)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3310128"/>
            <a:ext cx="9692640" cy="502920"/>
          </a:xfrm>
          <a:prstGeom prst="roundRect">
            <a:avLst>
              <a:gd name="adj" fmla="val 7273"/>
            </a:avLst>
          </a:prstGeom>
          <a:solidFill>
            <a:srgbClr val="028090"/>
          </a:solidFill>
          <a:ln/>
        </p:spPr>
      </p:sp>
      <p:sp>
        <p:nvSpPr>
          <p:cNvPr id="11" name="Text 8"/>
          <p:cNvSpPr/>
          <p:nvPr/>
        </p:nvSpPr>
        <p:spPr>
          <a:xfrm>
            <a:off x="10625328" y="331012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8,192 tokens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3977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16x more context capacity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4434840"/>
            <a:ext cx="52578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77240" y="457200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512-token ceiling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77240" y="493776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BERT learns one position vector per slot, 1–512. Slot 513 simply doesn’t exist — a hard architectural wall.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355080" y="4434840"/>
            <a:ext cx="525780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583680" y="457200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RoPE removes the wall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583680" y="493776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Rotary Position Embeddings encode position as a mathematical rotation defined for any position — extending capacity to 8,192 tokens.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 — Literature Survey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recipe &amp; evaluation metrics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/home/claude/deck/icons/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943600" cy="4160520"/>
        </p:xfrm>
        <a:graphic>
          <a:graphicData uri="http://schemas.openxmlformats.org/drawingml/2006/table">
            <a:tbl>
              <a:tblPr/>
              <a:tblGrid>
                <a:gridCol w="2194560"/>
                <a:gridCol w="3749040"/>
              </a:tblGrid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Hyperparameter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Backbone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ModernBERT-base (150M) / -large (396M)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1e-5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decay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(paper, on A100)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sequence length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4,096 tokens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(DataCollatorForTokenClassification)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 selection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token-level F1 on validation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720840" y="1600200"/>
            <a:ext cx="4892040" cy="1965960"/>
          </a:xfrm>
          <a:prstGeom prst="roundRect">
            <a:avLst>
              <a:gd name="adj" fmla="val 3256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949440" y="1737360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Example-level F1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949440" y="2084832"/>
            <a:ext cx="4434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flagged token → example flagged, then precision/recall/F1 over examples. Answers: "does this response need review?"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720840" y="3703320"/>
            <a:ext cx="4892040" cy="1965960"/>
          </a:xfrm>
          <a:prstGeom prst="roundRect">
            <a:avLst>
              <a:gd name="adj" fmla="val 3256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949440" y="3840480"/>
            <a:ext cx="443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Span-level F1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949440" y="4187952"/>
            <a:ext cx="4434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Character-overlap matching between predicted and gold spans. No official reference implementation — each paper self-implements this, so numbers are indicative, not exactly comparable.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594360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0A3A3F"/>
          </a:solidFill>
          <a:ln/>
        </p:spPr>
      </p:sp>
      <p:sp>
        <p:nvSpPr>
          <p:cNvPr id="14" name="Text 10"/>
          <p:cNvSpPr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metrics matter: hallucinated tokens are the minority class, so raw accuracy is deceptively high for a model that predicts "supported" everywhere.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 — Literature Survey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Published results on RAGTruth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548640" y="1600200"/>
          <a:ext cx="110642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486400"/>
            <a:ext cx="11064240" cy="960120"/>
          </a:xfrm>
          <a:prstGeom prst="roundRect">
            <a:avLst>
              <a:gd name="adj" fmla="val 6667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822960" y="548640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Reimplementation target: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LettuceDetect-base ≈ 76.07 example-level F1 — achieved 77.18 (see Results)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CFE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CFE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values are as reported by each source paper — not perfectly comparable due to differing implementations and evaluation protocols.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 — Literature Survey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LettuceDetect solves vs. leaves open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/home/claude/deck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91640"/>
            <a:ext cx="525780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8" name="Image 1" descr="/home/claude/dec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07568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19659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solves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68680" y="260604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the 512-token ceiling that blinded prior small-encoder detectors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68680" y="347472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inference cost ~30x vs. LLM-judge approaches at comparable accuracy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68680" y="434340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per-token → per-span output, not just a binary verdict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868680" y="521208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every prior encoder-based method on RAGTruth, and most prompting baselines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355080" y="1691640"/>
            <a:ext cx="525780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9050">
            <a:solidFill>
              <a:srgbClr val="C1440E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629400" y="1965960"/>
            <a:ext cx="457200" cy="457200"/>
          </a:xfrm>
          <a:prstGeom prst="ellipse">
            <a:avLst/>
          </a:prstGeom>
          <a:solidFill>
            <a:srgbClr val="C1440E"/>
          </a:solidFill>
          <a:ln/>
        </p:spPr>
      </p:sp>
      <p:pic>
        <p:nvPicPr>
          <p:cNvPr id="16" name="Image 2" descr="/home/claude/deck/icons/cro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8" y="207568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23760" y="19659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leaves open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675120" y="2606040"/>
            <a:ext cx="4617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English-only — stated explicitly in the paper’s own limitations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675120" y="3319272"/>
            <a:ext cx="4617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Text-only signal — never examines the generator’s internal attention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675120" y="4032504"/>
            <a:ext cx="4617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collapse of RAGTruth’s four hallucination categories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675120" y="4745736"/>
            <a:ext cx="4617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calibration — a fixed 0.5 threshold treats all flags identically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675120" y="5458968"/>
            <a:ext cx="4617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Untested generalization — may perform close to random out-of-distribution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 — Literature Survey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028090"/>
                </a:solidFill>
                <a:latin typeface="Calibri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1F2D2D"/>
                </a:solidFill>
                <a:latin typeface="Cambria"/>
              </a:rPr>
              <a:t>From code to a trained model</a:t>
            </a:r>
          </a:p>
        </p:txBody>
      </p:sp>
      <p:sp>
        <p:nvSpPr>
          <p:cNvPr id="4" name="Oval 3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521207"/>
            <a:ext cx="292608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1737360"/>
            <a:ext cx="1920240" cy="13716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37360"/>
            <a:ext cx="1773936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data_prep.py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87168" y="2340864"/>
            <a:ext cx="329184" cy="164592"/>
          </a:xfrm>
          <a:prstGeom prst="rightArrow">
            <a:avLst/>
          </a:prstGeom>
          <a:solidFill>
            <a:srgbClr val="5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40" y="1737360"/>
            <a:ext cx="1920240" cy="1371600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07792" y="1737360"/>
            <a:ext cx="1773936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verify_
alignment.py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73168" y="2340864"/>
            <a:ext cx="329184" cy="164592"/>
          </a:xfrm>
          <a:prstGeom prst="rightArrow">
            <a:avLst/>
          </a:prstGeom>
          <a:solidFill>
            <a:srgbClr val="5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0" y="1737360"/>
            <a:ext cx="1920240" cy="13716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1737360"/>
            <a:ext cx="1773936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F2D2D"/>
                </a:solidFill>
                <a:latin typeface="Calibri"/>
              </a:rPr>
              <a:t>model.py +
dataset.py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59168" y="2340864"/>
            <a:ext cx="329184" cy="164592"/>
          </a:xfrm>
          <a:prstGeom prst="rightArrow">
            <a:avLst/>
          </a:prstGeom>
          <a:solidFill>
            <a:srgbClr val="5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06640" y="1737360"/>
            <a:ext cx="1920240" cy="1371600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79792" y="1737360"/>
            <a:ext cx="1773936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train.py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45167" y="2340864"/>
            <a:ext cx="329184" cy="164592"/>
          </a:xfrm>
          <a:prstGeom prst="rightArrow">
            <a:avLst/>
          </a:prstGeom>
          <a:solidFill>
            <a:srgbClr val="5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92640" y="1737360"/>
            <a:ext cx="1920240" cy="1371600"/>
          </a:xfrm>
          <a:prstGeom prst="rect">
            <a:avLst/>
          </a:prstGeom>
          <a:solidFill>
            <a:srgbClr val="0A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65792" y="1737360"/>
            <a:ext cx="1773936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evaluate.py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82112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join + tokenize +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label-align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182112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hand-check on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real examples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182112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ModernBERT +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HF Dataset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3182112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HF Trainer,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smoke-test mode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3182112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F1 + raw prob.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B6B6B"/>
                </a:solidFill>
                <a:latin typeface="Calibri"/>
              </a:rPr>
              <a:t>dump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794760"/>
            <a:ext cx="4160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5B6B6B"/>
                </a:solidFill>
                <a:latin typeface="Calibri"/>
              </a:rPr>
              <a:t>◀  Dev machine (no GPU)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794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5B6B6B"/>
                </a:solidFill>
                <a:latin typeface="Calibri"/>
              </a:rPr>
              <a:t>RTX 4060 laptop (GPU)  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16052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028090"/>
                </a:solidFill>
                <a:latin typeface="Cambria"/>
              </a:rPr>
              <a:t>0 / 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572000"/>
            <a:ext cx="3520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50" b="0">
                <a:solidFill>
                  <a:srgbClr val="5B6B6B"/>
                </a:solidFill>
                <a:latin typeface="Calibri"/>
              </a:rPr>
              <a:t>label-alignment mismatches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B6B6B"/>
                </a:solidFill>
                <a:latin typeface="Calibri"/>
              </a:rPr>
              <a:t>hand-checked before scaling 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20540" y="416052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028090"/>
                </a:solidFill>
                <a:latin typeface="Cambria"/>
              </a:rPr>
              <a:t>CPU smoke 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0540" y="4572000"/>
            <a:ext cx="3520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50" b="0">
                <a:solidFill>
                  <a:srgbClr val="5B6B6B"/>
                </a:solidFill>
                <a:latin typeface="Calibri"/>
              </a:rPr>
              <a:t>runtime-verified before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B6B6B"/>
                </a:solidFill>
                <a:latin typeface="Calibri"/>
              </a:rPr>
              <a:t>any GPU time was spent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16052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028090"/>
                </a:solidFill>
                <a:latin typeface="Cambria"/>
              </a:rPr>
              <a:t>2 machines, 1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4572000"/>
            <a:ext cx="3520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50" b="0">
                <a:solidFill>
                  <a:srgbClr val="5B6B6B"/>
                </a:solidFill>
                <a:latin typeface="Calibri"/>
              </a:rPr>
              <a:t>code + smoke tests here;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B6B6B"/>
                </a:solidFill>
                <a:latin typeface="Calibri"/>
              </a:rPr>
              <a:t>real training on the GPU laptop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349240"/>
            <a:ext cx="11064240" cy="960120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4924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D2D"/>
                </a:solidFill>
                <a:latin typeface="Calibri"/>
              </a:rPr>
              <a:t>Own code, not their package: </a:t>
            </a:r>
            <a:r>
              <a:rPr sz="1300" b="0">
                <a:solidFill>
                  <a:srgbClr val="1F2D2D"/>
                </a:solidFill>
                <a:latin typeface="Calibri"/>
              </a:rPr>
              <a:t>every script above was written from scratch and verified against real RAGTruth data — the trickiest step (label alignment) was checked against the official reference implementation before being trusted at scale.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5B6B6B"/>
                </a:solidFill>
                <a:latin typeface="Calibri"/>
              </a:rPr>
              <a:t>LettuceDetect — Literature Survey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5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028090"/>
                </a:solidFill>
                <a:latin typeface="Calibri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1F2D2D"/>
                </a:solidFill>
                <a:latin typeface="Cambria"/>
              </a:rPr>
              <a:t>Dataset reality &amp; hardware adaptation</a:t>
            </a:r>
          </a:p>
        </p:txBody>
      </p:sp>
      <p:sp>
        <p:nvSpPr>
          <p:cNvPr id="4" name="Oval 3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521207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60020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028090"/>
                </a:solidFill>
                <a:latin typeface="Cambria"/>
              </a:rPr>
              <a:t>2,965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F2D2D"/>
                </a:solidFill>
                <a:latin typeface="Calibri"/>
              </a:rPr>
              <a:t>RAGTruth source items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50592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B6B6B"/>
                </a:solidFill>
                <a:latin typeface="Calibri"/>
              </a:rPr>
              <a:t>3 tasks: QA, Summary, Data2txt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540" y="160020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028090"/>
                </a:solidFill>
                <a:latin typeface="Cambria"/>
              </a:rPr>
              <a:t>17,790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540" y="219456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F2D2D"/>
                </a:solidFill>
                <a:latin typeface="Calibri"/>
              </a:rPr>
              <a:t>LLM responses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540" y="2450592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B6B6B"/>
                </a:solidFill>
                <a:latin typeface="Calibri"/>
              </a:rPr>
              <a:t>6 models per source 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160020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028090"/>
                </a:solidFill>
                <a:latin typeface="Cambria"/>
              </a:rPr>
              <a:t>15,090 / 2,700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19456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F2D2D"/>
                </a:solidFill>
                <a:latin typeface="Calibri"/>
              </a:rPr>
              <a:t>train / test 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450592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B6B6B"/>
                </a:solidFill>
                <a:latin typeface="Calibri"/>
              </a:rPr>
              <a:t>test balanced 900 per task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17520"/>
            <a:ext cx="525780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017520"/>
            <a:ext cx="5257800" cy="54864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1752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Paper Setting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3749039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5B6B6B"/>
                </a:solidFill>
                <a:latin typeface="Calibri"/>
              </a:rPr>
              <a:t>GPU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749039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F2D2D"/>
                </a:solidFill>
                <a:latin typeface="Calibri"/>
              </a:rPr>
              <a:t>A100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20624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5B6B6B"/>
                </a:solidFill>
                <a:latin typeface="Calibri"/>
              </a:rPr>
              <a:t>Batch size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206240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F2D2D"/>
                </a:solidFill>
                <a:latin typeface="Calibr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66344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5B6B6B"/>
                </a:solidFill>
                <a:latin typeface="Calibri"/>
              </a:rPr>
              <a:t>Max seq. length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663440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F2D2D"/>
                </a:solidFill>
                <a:latin typeface="Calibri"/>
              </a:rPr>
              <a:t>4,096 tokens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017520"/>
            <a:ext cx="525780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017520"/>
            <a:ext cx="5257800" cy="548640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Our Setting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749039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5B6B6B"/>
                </a:solidFill>
                <a:latin typeface="Calibri"/>
              </a:rPr>
              <a:t>GPU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749039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F2D2D"/>
                </a:solidFill>
                <a:latin typeface="Calibri"/>
              </a:rPr>
              <a:t>RTX 4060 laptop (8GB)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20624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5B6B6B"/>
                </a:solidFill>
                <a:latin typeface="Calibri"/>
              </a:rPr>
              <a:t>Batch size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206240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F2D2D"/>
                </a:solidFill>
                <a:latin typeface="Calibri"/>
              </a:rPr>
              <a:t>2 × grad-accum 4 (eff. 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66344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5B6B6B"/>
                </a:solidFill>
                <a:latin typeface="Calibri"/>
              </a:rPr>
              <a:t>Max seq. length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663440"/>
            <a:ext cx="2880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F2D2D"/>
                </a:solidFill>
                <a:latin typeface="Calibri"/>
              </a:rPr>
              <a:t>2,048 tokens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5778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F2D2D"/>
                </a:solidFill>
                <a:latin typeface="Calibri"/>
              </a:rPr>
              <a:t>Documented, expected deviations</a:t>
            </a:r>
            <a:r>
              <a:rPr sz="1300" b="0">
                <a:solidFill>
                  <a:srgbClr val="1F2D2D"/>
                </a:solidFill>
                <a:latin typeface="Calibri"/>
              </a:rPr>
              <a:t> — exactly the class of hardware adaptation the project brief calls defensible, provided it's disclosed.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5B6B6B"/>
                </a:solidFill>
                <a:latin typeface="Calibri"/>
              </a:rPr>
              <a:t>LettuceDetect — Literature Survey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5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028090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1F2D2D"/>
                </a:solidFill>
                <a:latin typeface="Cambria"/>
              </a:rPr>
              <a:t>We matched the paper's own number</a:t>
            </a:r>
          </a:p>
        </p:txBody>
      </p:sp>
      <p:sp>
        <p:nvSpPr>
          <p:cNvPr id="4" name="Oval 3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521207"/>
            <a:ext cx="292608" cy="292608"/>
          </a:xfrm>
          <a:prstGeom prst="rect">
            <a:avLst/>
          </a:prstGeom>
        </p:spPr>
      </p:pic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97880"/>
            <a:ext cx="11064240" cy="594360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97880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028090"/>
                </a:solidFill>
                <a:latin typeface="Calibri"/>
              </a:rPr>
              <a:t>77.18 vs. a 76.07 target</a:t>
            </a:r>
            <a:r>
              <a:rPr sz="1350" b="0">
                <a:solidFill>
                  <a:srgbClr val="1F2D2D"/>
                </a:solidFill>
                <a:latin typeface="Calibri"/>
              </a:rPr>
              <a:t> — an independently written reimplementation, not the authors' pip package, matching their published headline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5B6B6B"/>
                </a:solidFill>
                <a:latin typeface="Calibri"/>
              </a:rPr>
              <a:t>LettuceDetect — Literature Survey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5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028090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1F2D2D"/>
                </a:solidFill>
                <a:latin typeface="Cambria"/>
              </a:rPr>
              <a:t>Per-task breakdown reproduces the paper's own pattern</a:t>
            </a:r>
          </a:p>
        </p:txBody>
      </p:sp>
      <p:sp>
        <p:nvSpPr>
          <p:cNvPr id="4" name="Oval 3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521207"/>
            <a:ext cx="292608" cy="292608"/>
          </a:xfrm>
          <a:prstGeom prst="rect">
            <a:avLst/>
          </a:prstGeom>
        </p:spPr>
      </p:pic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3703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440680"/>
            <a:ext cx="11064240" cy="914400"/>
          </a:xfrm>
          <a:prstGeom prst="rect">
            <a:avLst/>
          </a:prstGeom>
          <a:solidFill>
            <a:srgbClr val="0A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Summarization is the weakest task in our model too. </a:t>
            </a:r>
            <a:r>
              <a:rPr sz="1300" b="0">
                <a:solidFill>
                  <a:srgbClr val="FFFFFF"/>
                </a:solidFill>
                <a:latin typeface="Calibri"/>
              </a:rPr>
              <a:t>The original paper reports the same pattern — reproducing this qualitative weakness is stronger evidence of a faithful reimplementation than the aggregate score alone.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5B6B6B"/>
                </a:solidFill>
                <a:latin typeface="Calibri"/>
              </a:rPr>
              <a:t>LettuceDetect — Literature Survey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5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028090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1F2D2D"/>
                </a:solidFill>
                <a:latin typeface="Cambria"/>
              </a:rPr>
              <a:t>Threshold tuning, done honestly</a:t>
            </a:r>
          </a:p>
        </p:txBody>
      </p:sp>
      <p:sp>
        <p:nvSpPr>
          <p:cNvPr id="4" name="Oval 3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521207"/>
            <a:ext cx="292608" cy="292608"/>
          </a:xfrm>
          <a:prstGeom prst="rect">
            <a:avLst/>
          </a:prstGeom>
        </p:spPr>
      </p:pic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08760"/>
          <a:ext cx="704088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909560" y="1600200"/>
            <a:ext cx="3520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1F2D2D"/>
                </a:solidFill>
                <a:latin typeface="Calibri"/>
              </a:rPr>
              <a:t>Held-out, honest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7909560" y="1965960"/>
            <a:ext cx="3520440" cy="1188720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2103120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5B6B6B"/>
                </a:solidFill>
                <a:latin typeface="Calibri"/>
              </a:rPr>
              <a:t>Example F1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37744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F2D2D"/>
                </a:solidFill>
                <a:latin typeface="Cambria"/>
              </a:rPr>
              <a:t>78.18 </a:t>
            </a:r>
            <a:r>
              <a:rPr sz="2000" b="1">
                <a:solidFill>
                  <a:srgbClr val="028090"/>
                </a:solidFill>
                <a:latin typeface="Cambria"/>
              </a:rPr>
              <a:t>→ 78.29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5B6B6B"/>
                </a:solidFill>
                <a:latin typeface="Calibri"/>
              </a:rPr>
              <a:t>+0.11, indistinguishable from noise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9560" y="3291840"/>
            <a:ext cx="3520440" cy="1188720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3429000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5B6B6B"/>
                </a:solidFill>
                <a:latin typeface="Calibri"/>
              </a:rPr>
              <a:t>Span F1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70332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F2D2D"/>
                </a:solidFill>
                <a:latin typeface="Cambria"/>
              </a:rPr>
              <a:t>64.2 </a:t>
            </a:r>
            <a:r>
              <a:rPr sz="2000" b="1">
                <a:solidFill>
                  <a:srgbClr val="02C39A"/>
                </a:solidFill>
                <a:latin typeface="Cambria"/>
              </a:rPr>
              <a:t>→ 66.6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1605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5B6B6B"/>
                </a:solidFill>
                <a:latin typeface="Calibri"/>
              </a:rPr>
              <a:t>real gain: filters spurious 1-token spans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663440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6B6B"/>
                </a:solidFill>
                <a:latin typeface="Calibri"/>
              </a:rPr>
              <a:t>Tuned on one source-grouped half of test, reported only on the untouched other half.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solidFill>
            <a:srgbClr val="0A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778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The paper's default 0.5 was already close to optimal</a:t>
            </a:r>
            <a:r>
              <a:rPr sz="1300" b="0">
                <a:solidFill>
                  <a:srgbClr val="FFFFFF"/>
                </a:solidFill>
                <a:latin typeface="Calibri"/>
              </a:rPr>
              <a:t> for example-level F1 — tuning it further is not the free win it might look like.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5B6B6B"/>
                </a:solidFill>
                <a:latin typeface="Calibri"/>
              </a:rPr>
              <a:t>LettuceDetect — Literature Survey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5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028090"/>
                </a:solidFill>
                <a:latin typeface="Calibri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1F2D2D"/>
                </a:solidFill>
                <a:latin typeface="Cambria"/>
              </a:rPr>
              <a:t>What worked, and what we found along the way</a:t>
            </a:r>
          </a:p>
        </p:txBody>
      </p:sp>
      <p:sp>
        <p:nvSpPr>
          <p:cNvPr id="4" name="Oval 3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521207"/>
            <a:ext cx="292608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1600200"/>
            <a:ext cx="5257800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5257800" cy="54864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What Worked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31720"/>
            <a:ext cx="475488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Matched the paper's F1 (77.18 vs. 76.07 target)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Reproduced the paper's own summarization weakness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0 / 10 mismatches hand-verifying label alignment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CPU smoke tests caught bugs before any GPU time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Honest, source-grouped held-out tuning protocol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600200"/>
            <a:ext cx="5257800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00200"/>
            <a:ext cx="5257800" cy="54864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0020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mbria"/>
              </a:rPr>
              <a:t>Challenges &amp;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475488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RTX 4060 OOM at batch 8 → fixed with batch 2 × accum 4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A merged refactor PR briefly broke evaluate.py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Found PsiloQA's own paper already ran our first “novel idea”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Found and disclosed a validation leak in checkpoint selection</a:t>
            </a:r>
          </a:p>
          <a:p>
            <a:pPr marL="182880" indent="-182880">
              <a:spcAft>
                <a:spcPts val="1000"/>
              </a:spcAft>
              <a:buFont typeface="Calibri"/>
              <a:buChar char="•"/>
            </a:pPr>
            <a:r>
              <a:rPr sz="1200" b="0">
                <a:solidFill>
                  <a:srgbClr val="1F2D2D"/>
                </a:solidFill>
                <a:latin typeface="Calibri"/>
              </a:rPr>
              <a:t>Threshold tuning gave less than expected — still worth reporting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943600"/>
            <a:ext cx="11064240" cy="502920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94360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F2D2D"/>
                </a:solidFill>
                <a:latin typeface="Calibri"/>
              </a:rPr>
              <a:t>Auditing our own methodology, not just the paper's, </a:t>
            </a:r>
            <a:r>
              <a:rPr sz="1250" b="0">
                <a:solidFill>
                  <a:srgbClr val="1F2D2D"/>
                </a:solidFill>
                <a:latin typeface="Calibri"/>
              </a:rPr>
              <a:t>is the same standard the 2025 literature asks this class of detector to meet.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5B6B6B"/>
                </a:solidFill>
                <a:latin typeface="Calibri"/>
              </a:rPr>
              <a:t>LettuceDetect — Literature Survey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>
                <a:solidFill>
                  <a:srgbClr val="5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we found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00200"/>
            <a:ext cx="11064240" cy="1051560"/>
          </a:xfrm>
          <a:prstGeom prst="roundRect">
            <a:avLst>
              <a:gd name="adj" fmla="val 6087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77240" y="16002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first: 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considered training on PsiloQA and reporting it as new — but PsiloQA’s own Table 4 already does exactly that, using LettuceDetect itself as one of the tested models.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9050">
            <a:solidFill>
              <a:srgbClr val="5B6B6B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31520" y="2688336"/>
            <a:ext cx="1234440" cy="292608"/>
          </a:xfrm>
          <a:prstGeom prst="roundRect">
            <a:avLst>
              <a:gd name="adj" fmla="val 156250"/>
            </a:avLst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31520" y="2688336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49808" y="3054096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RAGTruth-trained ≠ PsiloQA-trained OOD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49808" y="3547872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Published: detectors disagree by up to 45% IoU once evaluated out-of-domain (Mu-SHROOM).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096512" y="3360420"/>
            <a:ext cx="201168" cy="182880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4325112" y="28346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9050">
            <a:solidFill>
              <a:srgbClr val="C1440E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4507992" y="2688336"/>
            <a:ext cx="1234440" cy="292608"/>
          </a:xfrm>
          <a:prstGeom prst="roundRect">
            <a:avLst>
              <a:gd name="adj" fmla="val 156250"/>
            </a:avLst>
          </a:prstGeom>
          <a:solidFill>
            <a:srgbClr val="C1440E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4507992" y="2688336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526280" y="3054096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Combined training untested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26280" y="3547872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 only ever pits the two datasets against each other — never trains on both together.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872984" y="3360420"/>
            <a:ext cx="201168" cy="182880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8101584" y="2834640"/>
            <a:ext cx="35204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8284464" y="2688336"/>
            <a:ext cx="1234440" cy="292608"/>
          </a:xfrm>
          <a:prstGeom prst="roundRect">
            <a:avLst>
              <a:gd name="adj" fmla="val 156250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8284464" y="2688336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STUDY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302752" y="3054096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 on both, test cross-dataset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8302752" y="3547872"/>
            <a:ext cx="31181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RAGTruth + PsiloQA combined training, evaluated on both test sets.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34340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777240" y="434340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best of our literature review, </a:t>
            </a:r>
            <a:pPr indent="0" marL="0">
              <a:lnSpc>
                <a:spcPct val="120000"/>
              </a:lnSpc>
              <a:buNone/>
            </a:pPr>
            <a:r>
              <a:rPr lang="en-US" sz="1250" b="1" i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no prior study evaluating combined RAGTruth + PsiloQA training for cross-dataset generalization.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548640" y="530352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0A3A3F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822960" y="54132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22960" y="5687568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training LettuceDetect on combined RAGTruth + PsiloQA data reduce the cross-dataset generalization gap compared with training on either dataset alone — this is yet to be experimentally tested.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 — Literature Survey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design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27632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627632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RAGTruth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2606040" y="2002536"/>
            <a:ext cx="256032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971800" y="1627632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2971800" y="1627632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-base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0" y="2002536"/>
            <a:ext cx="256032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5394960" y="1627632"/>
            <a:ext cx="6035040" cy="411480"/>
          </a:xfrm>
          <a:prstGeom prst="roundRect">
            <a:avLst>
              <a:gd name="adj" fmla="val 11111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532120" y="1627632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In-domain: F1 on RAGTruth test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394960" y="2130552"/>
            <a:ext cx="6035040" cy="411480"/>
          </a:xfrm>
          <a:prstGeom prst="roundRect">
            <a:avLst>
              <a:gd name="adj" fmla="val 11111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5532120" y="2130552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Cross-dataset: F1 on PsiloQA-EN test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265176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00A896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548640" y="265176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PsiloQA-EN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2606040" y="3026664"/>
            <a:ext cx="256032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2971800" y="265176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2971800" y="265176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-base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029200" y="3026664"/>
            <a:ext cx="256032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5394960" y="2651760"/>
            <a:ext cx="6035040" cy="411480"/>
          </a:xfrm>
          <a:prstGeom prst="roundRect">
            <a:avLst>
              <a:gd name="adj" fmla="val 11111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5532120" y="265176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In-domain: F1 on PsiloQA-EN test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394960" y="3154680"/>
            <a:ext cx="6035040" cy="411480"/>
          </a:xfrm>
          <a:prstGeom prst="roundRect">
            <a:avLst>
              <a:gd name="adj" fmla="val 11111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5532120" y="315468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Cross-dataset: F1 on RAGTruth test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48640" y="367588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02C39A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548640" y="3675888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RAGTruth +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PsiloQA-EN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2606040" y="4050792"/>
            <a:ext cx="256032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2971800" y="367588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2971800" y="3675888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-base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029200" y="4050792"/>
            <a:ext cx="256032" cy="164592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5394960" y="3675888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D7F2EC"/>
          </a:solidFill>
          <a:ln w="1270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5532120" y="3675888"/>
            <a:ext cx="5760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on both test sets (combined)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548640" y="4700016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0A3A3F"/>
          </a:solidFill>
          <a:ln/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822960" y="4700016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for all three runs: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Example-level F1  •  Span-level F1  •  Expected Calibration Error (ECE)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48640" y="526694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48640" y="5559552"/>
            <a:ext cx="54406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LettuceDetect-base performance on RAGTruth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RAGTruth → PsiloQA cross-dataset performance drop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172200" y="5559552"/>
            <a:ext cx="54406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whether combined training reduces that gap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ECE across the three training configurations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 — Literature Survey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Combined-training experiment design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Eval: In-Domain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Eval: Cross-Dataset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RAGTruth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(core reimplementation)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on RAGTruth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on PsiloQA-EN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PsiloQA-English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on PsiloQA-EN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on RAGTruth 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5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RAGTruth + PsiloQA-EN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(combined)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on both test sets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F2E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4370832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Expected Calibration Error (ECE) reported for all three configurations — the same metric HALT-RAG uses.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48640" y="4736592"/>
            <a:ext cx="5349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9" name="Shape 5"/>
          <p:cNvSpPr/>
          <p:nvPr/>
        </p:nvSpPr>
        <p:spPr>
          <a:xfrm>
            <a:off x="713232" y="496519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10" name="Image 1" descr="/home/claude/deck/icons/fl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3" y="5085893"/>
            <a:ext cx="261518" cy="26151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484632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added compute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1371600" y="5166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extra training runs, not a post-hoc tweak.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6217920" y="4736592"/>
            <a:ext cx="5349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6382512" y="496519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15" name="Image 2" descr="/home/claude/deck/icons/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13" y="5085893"/>
            <a:ext cx="261518" cy="26151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040880" y="484632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 specific number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7040880" y="5166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published 45% IoU gap, not a general warning.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548640" y="5605272"/>
            <a:ext cx="5349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19" name="Shape 13"/>
          <p:cNvSpPr/>
          <p:nvPr/>
        </p:nvSpPr>
        <p:spPr>
          <a:xfrm>
            <a:off x="713232" y="583387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20" name="Image 3" descr="/home/claude/deck/icons/l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3" y="5954573"/>
            <a:ext cx="261518" cy="26151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600" y="57150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Subsumes the OOD idea</a:t>
            </a:r>
            <a:endParaRPr lang="en-US" sz="1250" dirty="0"/>
          </a:p>
        </p:txBody>
      </p:sp>
      <p:sp>
        <p:nvSpPr>
          <p:cNvPr id="22" name="Text 15"/>
          <p:cNvSpPr/>
          <p:nvPr/>
        </p:nvSpPr>
        <p:spPr>
          <a:xfrm>
            <a:off x="1371600" y="60350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RAGTruth → PsiloQA becomes a real OOD test.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6217920" y="5605272"/>
            <a:ext cx="5349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24" name="Shape 17"/>
          <p:cNvSpPr/>
          <p:nvPr/>
        </p:nvSpPr>
        <p:spPr>
          <a:xfrm>
            <a:off x="6382512" y="583387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25" name="Image 4" descr="/home/claude/deck/icons/br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3213" y="5954573"/>
            <a:ext cx="261518" cy="26151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040880" y="57150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Interesting either way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7040880" y="60350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non-result is a genuine finding.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 — Literature Survey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5 project timeline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0" y="384048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/home/claude/deck/icons/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8863" y="520111"/>
            <a:ext cx="294803" cy="29480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91640"/>
            <a:ext cx="1706880" cy="1051560"/>
          </a:xfrm>
          <a:prstGeom prst="roundRect">
            <a:avLst>
              <a:gd name="adj" fmla="val 6087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783080"/>
            <a:ext cx="1706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03504" y="2112264"/>
            <a:ext cx="1597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alignment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269236" y="2144268"/>
            <a:ext cx="109728" cy="146304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2392680" y="1691640"/>
            <a:ext cx="1706880" cy="1051560"/>
          </a:xfrm>
          <a:prstGeom prst="roundRect">
            <a:avLst>
              <a:gd name="adj" fmla="val 6087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2392680" y="1783080"/>
            <a:ext cx="1706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447544" y="2112264"/>
            <a:ext cx="1597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loop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113276" y="2144268"/>
            <a:ext cx="109728" cy="146304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4236720" y="1691640"/>
            <a:ext cx="1706880" cy="1051560"/>
          </a:xfrm>
          <a:prstGeom prst="roundRect">
            <a:avLst>
              <a:gd name="adj" fmla="val 6087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4236720" y="1783080"/>
            <a:ext cx="1706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291584" y="2112264"/>
            <a:ext cx="1597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metrics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baseline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957316" y="2144268"/>
            <a:ext cx="109728" cy="146304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6080760" y="1691640"/>
            <a:ext cx="1706880" cy="1051560"/>
          </a:xfrm>
          <a:prstGeom prst="roundRect">
            <a:avLst>
              <a:gd name="adj" fmla="val 6087"/>
            </a:avLst>
          </a:prstGeom>
          <a:solidFill>
            <a:srgbClr val="02C39A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080760" y="1783080"/>
            <a:ext cx="1706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4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135624" y="2112264"/>
            <a:ext cx="1597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PsiloQA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runs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801356" y="2144268"/>
            <a:ext cx="109728" cy="146304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7924800" y="1691640"/>
            <a:ext cx="1706880" cy="1051560"/>
          </a:xfrm>
          <a:prstGeom prst="roundRect">
            <a:avLst>
              <a:gd name="adj" fmla="val 6087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7924800" y="1783080"/>
            <a:ext cx="1706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5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7979664" y="2112264"/>
            <a:ext cx="1597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(ECE) + writeup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9645396" y="2144268"/>
            <a:ext cx="109728" cy="146304"/>
          </a:xfrm>
          <a:prstGeom prst="rightArrow">
            <a:avLst/>
          </a:prstGeom>
          <a:solidFill>
            <a:srgbClr val="5B6B6B"/>
          </a:solidFill>
          <a:ln/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9768840" y="1691640"/>
            <a:ext cx="1706880" cy="1051560"/>
          </a:xfrm>
          <a:prstGeom prst="roundRect">
            <a:avLst>
              <a:gd name="adj" fmla="val 6087"/>
            </a:avLst>
          </a:prstGeom>
          <a:solidFill>
            <a:srgbClr val="0A3A3F"/>
          </a:solidFill>
          <a:ln/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9768840" y="1783080"/>
            <a:ext cx="1706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9823704" y="2112264"/>
            <a:ext cx="1597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48640" y="28346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16-week sem-5 plan (from project brief), compressed to five phases plus a final synthesis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48640" y="3246120"/>
            <a:ext cx="1706880" cy="960120"/>
          </a:xfrm>
          <a:prstGeom prst="roundRect">
            <a:avLst>
              <a:gd name="adj" fmla="val 5714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603504" y="3300984"/>
            <a:ext cx="1597152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data_prep.py pipeline; ingest RAGTruth triples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2392680" y="3246120"/>
            <a:ext cx="1706880" cy="960120"/>
          </a:xfrm>
          <a:prstGeom prst="roundRect">
            <a:avLst>
              <a:gd name="adj" fmla="val 5714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2447544" y="3300984"/>
            <a:ext cx="1597152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ModernBERT-base, from-scratch training loop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4236720" y="3246120"/>
            <a:ext cx="1706880" cy="960120"/>
          </a:xfrm>
          <a:prstGeom prst="roundRect">
            <a:avLst>
              <a:gd name="adj" fmla="val 5714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4291584" y="3300984"/>
            <a:ext cx="1597152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Example-level &amp; span-level F1 on RAGTruth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6080760" y="3246120"/>
            <a:ext cx="1706880" cy="960120"/>
          </a:xfrm>
          <a:prstGeom prst="roundRect">
            <a:avLst>
              <a:gd name="adj" fmla="val 5714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6135624" y="3300984"/>
            <a:ext cx="1597152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RAGTruth-only, PsiloQA-only, combined (3 runs)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924800" y="3246120"/>
            <a:ext cx="1706880" cy="960120"/>
          </a:xfrm>
          <a:prstGeom prst="roundRect">
            <a:avLst>
              <a:gd name="adj" fmla="val 5714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7979664" y="3300984"/>
            <a:ext cx="1597152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ECE across all 3 configs; final writeup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9768840" y="3246120"/>
            <a:ext cx="1706880" cy="960120"/>
          </a:xfrm>
          <a:prstGeom prst="roundRect">
            <a:avLst>
              <a:gd name="adj" fmla="val 5714"/>
            </a:avLst>
          </a:prstGeom>
          <a:solidFill>
            <a:srgbClr val="EEF6F5"/>
          </a:solidFill>
          <a:ln w="12700">
            <a:solidFill>
              <a:srgbClr val="D7E6E4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9823704" y="3300984"/>
            <a:ext cx="1597152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F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→ OOD comparison → combined model → calibration → analysis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548640" y="443484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731520" y="450799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18K</a:t>
            </a:r>
            <a:endParaRPr lang="en-US" sz="3400" dirty="0"/>
          </a:p>
        </p:txBody>
      </p:sp>
      <p:sp>
        <p:nvSpPr>
          <p:cNvPr id="44" name="Text 41"/>
          <p:cNvSpPr/>
          <p:nvPr/>
        </p:nvSpPr>
        <p:spPr>
          <a:xfrm>
            <a:off x="731520" y="505663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RAGTruth triples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tasks · 6 LLMs/item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4343400" y="443484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4526280" y="450799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150M</a:t>
            </a:r>
            <a:endParaRPr lang="en-US" sz="3400" dirty="0"/>
          </a:p>
        </p:txBody>
      </p:sp>
      <p:sp>
        <p:nvSpPr>
          <p:cNvPr id="47" name="Text 44"/>
          <p:cNvSpPr/>
          <p:nvPr/>
        </p:nvSpPr>
        <p:spPr>
          <a:xfrm>
            <a:off x="4526280" y="505663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ModernBERT-base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138160" y="443484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7E6E4"/>
            </a:solidFill>
            <a:prstDash val="solid"/>
          </a:ln>
          <a:effectLst>
            <a:outerShdw sx="100000" sy="100000" kx="0" ky="0" algn="bl" rotWithShape="0" blurRad="101600" dist="38100" dir="5400000">
              <a:srgbClr val="2D3436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8321040" y="450799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77.18</a:t>
            </a:r>
            <a:endParaRPr lang="en-US" sz="3400" dirty="0"/>
          </a:p>
        </p:txBody>
      </p:sp>
      <p:sp>
        <p:nvSpPr>
          <p:cNvPr id="50" name="Text 47"/>
          <p:cNvSpPr/>
          <p:nvPr/>
        </p:nvSpPr>
        <p:spPr>
          <a:xfrm>
            <a:off x="8321040" y="505663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example-level F1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(target was 76.07)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548640" y="571500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0A3A3F"/>
          </a:solidFill>
          <a:ln/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777240" y="571500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We’re not calling their pip package — we’re building the pipeline from scratch: label alignment, model, training loop, both metrics.</a:t>
            </a:r>
            <a:endParaRPr lang="en-US" sz="1450" dirty="0"/>
          </a:p>
        </p:txBody>
      </p:sp>
      <p:sp>
        <p:nvSpPr>
          <p:cNvPr id="53" name="Text 50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LettuceDetect — Literature Survey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1277295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3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480560"/>
            <a:ext cx="3840480" cy="384048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4864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pic>
        <p:nvPicPr>
          <p:cNvPr id="4" name="Image 0" descr="/home/claude/deck/icons/c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702259"/>
            <a:ext cx="332842" cy="3328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46304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22402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3017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references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3383280"/>
            <a:ext cx="54864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Kovács, A. &amp; Recski, G. (2025). LettuceDetect. arXiv:2502.17125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Niu, C. et al. (2024). RAGTruth. ACL 2024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Manakul, P. et al. (2023). SelfCheckGPT. arXiv:2303.08896, EMNLP 2023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Belyi, M. et al. (2024). Luna. arXiv:2406.00975, COLING 2025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Song, J. et al. (2024). RAG-HAT. EMNLP 2024 Industry Track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Sun, Z. et al. (2024/25). ReDeEP. arXiv:2410.11414, ICLR 2025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217920" y="3383280"/>
            <a:ext cx="54864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Dubanowska, K. et al. (2025). OOD generalization. EMNLP 2025 Findings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Turk-LettuceDetect (2025). arXiv:2509.17671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PsiloQA (2025). arXiv:2510.04849, EMNLP 2025 Findings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Ridder, F. et al. (2026). RAGognizer. arXiv:2604.15945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EA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HALT-RAG (2025). arXiv:2509.07475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2026-09-06T05:47:56Z</dcterms:created>
  <dcterms:modified xsi:type="dcterms:W3CDTF">2026-09-06T05:47:56Z</dcterms:modified>
</cp:coreProperties>
</file>