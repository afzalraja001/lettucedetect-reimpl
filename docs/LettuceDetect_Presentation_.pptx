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23"/>
    <p:sldId id="273" r:id="rId24"/>
    <p:sldId id="274" r:id="rId25"/>
    <p:sldId id="275" r:id="rId26"/>
    <p:sldId id="276" r:id="rId27"/>
    <p:sldId id="277" r:id="rId28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Example-level F1</c:v>
                </c:pt>
              </c:strCache>
            </c:strRef>
          </c:tx>
          <c:spPr>
            <a:solidFill>
              <a:srgbClr val="5B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GPT-3.5
prompting</c:v>
                  </c:pt>
                  <c:pt idx="1">
                    <c:v>SelfCheck
GPT</c:v>
                  </c:pt>
                  <c:pt idx="2">
                    <c:v>GPT-4-turbo
prompting</c:v>
                  </c:pt>
                  <c:pt idx="3">
                    <c:v>Luna</c:v>
                  </c:pt>
                  <c:pt idx="4">
                    <c:v>Lettuce
Detect-base</c:v>
                  </c:pt>
                  <c:pt idx="5">
                    <c:v>Fine-tuned
Llama-2-13B</c:v>
                  </c:pt>
                  <c:pt idx="6">
                    <c:v>Lettuce
Detect-large</c:v>
                  </c:pt>
                  <c:pt idx="7">
                    <c:v>RAG-HAT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52.9</c:v>
                </c:pt>
                <c:pt idx="1">
                  <c:v>58.8</c:v>
                </c:pt>
                <c:pt idx="2">
                  <c:v>63.4</c:v>
                </c:pt>
                <c:pt idx="3">
                  <c:v>65.4</c:v>
                </c:pt>
                <c:pt idx="4">
                  <c:v>76.07</c:v>
                </c:pt>
                <c:pt idx="5">
                  <c:v>78.7</c:v>
                </c:pt>
                <c:pt idx="6">
                  <c:v>79.22</c:v>
                </c:pt>
                <c:pt idx="7">
                  <c:v>83.9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F2D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D2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9525" cap="flat">
              <a:solidFill>
                <a:srgbClr val="D7E6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Example-level F1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5B6B6B"/>
            </a:solidFill>
            <a:ln>
              <a:noFill/>
            </a:ln>
          </c:spPr>
          <c:dPt>
            <c:idx val="0"/>
            <c:spPr>
              <a:solidFill>
                <a:srgbClr val="5B6B6B"/>
              </a:solidFill>
            </c:spPr>
          </c:dPt>
          <c:dPt>
            <c:idx val="1"/>
            <c:spPr>
              <a:solidFill>
                <a:srgbClr val="5B6B6B"/>
              </a:solidFill>
            </c:spPr>
          </c:dPt>
          <c:dPt>
            <c:idx val="2"/>
            <c:spPr>
              <a:solidFill>
                <a:srgbClr val="5B6B6B"/>
              </a:solidFill>
            </c:spPr>
          </c:dPt>
          <c:dPt>
            <c:idx val="3"/>
            <c:spPr>
              <a:solidFill>
                <a:srgbClr val="5B6B6B"/>
              </a:solidFill>
            </c:spPr>
          </c:dPt>
          <c:dPt>
            <c:idx val="4"/>
            <c:spPr>
              <a:solidFill>
                <a:srgbClr val="028090"/>
              </a:solidFill>
            </c:spPr>
          </c:dPt>
          <c:dPt>
            <c:idx val="5"/>
            <c:spPr>
              <a:solidFill>
                <a:srgbClr val="02C39A"/>
              </a:solidFill>
            </c:spPr>
          </c:dPt>
          <c:dPt>
            <c:idx val="6"/>
            <c:spPr>
              <a:solidFill>
                <a:srgbClr val="5B6B6B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GPT-3.5
prompting</c:v>
                </c:pt>
                <c:pt idx="1">
                  <c:v>SelfCheckGPT</c:v>
                </c:pt>
                <c:pt idx="2">
                  <c:v>GPT-4-turbo
prompting</c:v>
                </c:pt>
                <c:pt idx="3">
                  <c:v>Luna</c:v>
                </c:pt>
                <c:pt idx="4">
                  <c:v>LettuceDetect-
base (paper)</c:v>
                </c:pt>
                <c:pt idx="5">
                  <c:v>Ours</c:v>
                </c:pt>
                <c:pt idx="6">
                  <c:v>RAG-HAT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52.9</c:v>
                </c:pt>
                <c:pt idx="1">
                  <c:v>58.8</c:v>
                </c:pt>
                <c:pt idx="2">
                  <c:v>63.4</c:v>
                </c:pt>
                <c:pt idx="3">
                  <c:v>65.4</c:v>
                </c:pt>
                <c:pt idx="4">
                  <c:v>76.07</c:v>
                </c:pt>
                <c:pt idx="5">
                  <c:v>77.18</c:v>
                </c:pt>
                <c:pt idx="6">
                  <c:v>83.9</c:v>
                </c:pt>
              </c:numCache>
            </c:numRef>
          </c:val>
        </c:ser>
        <c:dLbls>
          <c:numFmt sourceLinked="0"/>
          <c:txPr>
            <a:bodyPr/>
            <a:lstStyle/>
            <a:p>
              <a:pPr>
                <a:defRPr sz="1000" b="1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8D7"/>
            </a:solidFill>
          </a:ln>
        </c:spPr>
        <c:txPr>
          <a:bodyPr/>
          <a:lstStyle/>
          <a:p>
            <a:pPr>
              <a:defRPr sz="105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0"/>
        </c:scaling>
        <c:delete val="0"/>
        <c:axPos val="l"/>
        <c:majorGridlines>
          <c:spPr>
            <a:ln w="6350"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28090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88.9</c:v>
                </c:pt>
                <c:pt idx="1">
                  <c:v>65.5</c:v>
                </c:pt>
                <c:pt idx="2">
                  <c:v>64.6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0A896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85.8</c:v>
                </c:pt>
                <c:pt idx="1">
                  <c:v>68.8</c:v>
                </c:pt>
                <c:pt idx="2">
                  <c:v>45.6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2C39A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87.3</c:v>
                </c:pt>
                <c:pt idx="1">
                  <c:v>67.1</c:v>
                </c:pt>
                <c:pt idx="2">
                  <c:v>53.4</c:v>
                </c:pt>
              </c:numCache>
            </c:numRef>
          </c:val>
        </c:ser>
        <c:dLbls>
          <c:numFmt sourceLinked="0"/>
          <c:txPr>
            <a:bodyPr/>
            <a:lstStyle/>
            <a:p>
              <a:pPr>
                <a:defRPr sz="1000" b="1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8D7"/>
            </a:solidFill>
          </a:ln>
        </c:spPr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 w="6350"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Example F1</c:v>
                </c:pt>
              </c:strCache>
            </c:strRef>
          </c:tx>
          <c:spPr>
            <a:ln w="31750">
              <a:solidFill>
                <a:srgbClr val="028090"/>
              </a:solidFill>
            </a:ln>
          </c:spPr>
          <c:marker>
            <c:symbol val="diamond"/>
            <c:spPr>
              <a:solidFill>
                <a:srgbClr val="028090"/>
              </a:solidFill>
              <a:ln>
                <a:solidFill>
                  <a:srgbClr val="028090"/>
                </a:solidFill>
              </a:ln>
            </c:spPr>
          </c:marker>
          <c:dLbls>
            <c:numFmt sourceLinked="0"/>
            <c:txPr>
              <a:bodyPr/>
              <a:lstStyle/>
              <a:p>
                <a:pPr>
                  <a:defRPr sz="1000" b="1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0.25</c:v>
                </c:pt>
                <c:pt idx="5">
                  <c:v>0.30</c:v>
                </c:pt>
                <c:pt idx="6">
                  <c:v>0.35</c:v>
                </c:pt>
                <c:pt idx="7">
                  <c:v>0.40</c:v>
                </c:pt>
                <c:pt idx="8">
                  <c:v>0.45</c:v>
                </c:pt>
                <c:pt idx="9">
                  <c:v>0.50</c:v>
                </c:pt>
                <c:pt idx="10">
                  <c:v>0.55</c:v>
                </c:pt>
                <c:pt idx="11">
                  <c:v>0.60</c:v>
                </c:pt>
                <c:pt idx="12">
                  <c:v>0.65</c:v>
                </c:pt>
                <c:pt idx="13">
                  <c:v>0.70</c:v>
                </c:pt>
                <c:pt idx="14">
                  <c:v>0.75</c:v>
                </c:pt>
                <c:pt idx="15">
                  <c:v>0.80</c:v>
                </c:pt>
                <c:pt idx="16">
                  <c:v>0.85</c:v>
                </c:pt>
                <c:pt idx="17">
                  <c:v>0.90</c:v>
                </c:pt>
                <c:pt idx="18">
                  <c:v>0.95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65.8</c:v>
                </c:pt>
                <c:pt idx="1">
                  <c:v>71.0</c:v>
                </c:pt>
                <c:pt idx="2">
                  <c:v>73.0</c:v>
                </c:pt>
                <c:pt idx="3">
                  <c:v>74.4</c:v>
                </c:pt>
                <c:pt idx="4">
                  <c:v>75.5</c:v>
                </c:pt>
                <c:pt idx="5">
                  <c:v>76.6</c:v>
                </c:pt>
                <c:pt idx="6">
                  <c:v>77.1</c:v>
                </c:pt>
                <c:pt idx="7">
                  <c:v>77.8</c:v>
                </c:pt>
                <c:pt idx="8">
                  <c:v>77.3</c:v>
                </c:pt>
                <c:pt idx="9">
                  <c:v>77.2</c:v>
                </c:pt>
                <c:pt idx="10">
                  <c:v>77.3</c:v>
                </c:pt>
                <c:pt idx="11">
                  <c:v>76.9</c:v>
                </c:pt>
                <c:pt idx="12">
                  <c:v>76.0</c:v>
                </c:pt>
                <c:pt idx="13">
                  <c:v>74.7</c:v>
                </c:pt>
                <c:pt idx="14">
                  <c:v>73.2</c:v>
                </c:pt>
                <c:pt idx="15">
                  <c:v>71.2</c:v>
                </c:pt>
                <c:pt idx="16">
                  <c:v>67.0</c:v>
                </c:pt>
                <c:pt idx="17">
                  <c:v>58.7</c:v>
                </c:pt>
                <c:pt idx="18">
                  <c:v>43.5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Span F1</c:v>
                </c:pt>
              </c:strCache>
            </c:strRef>
          </c:tx>
          <c:spPr>
            <a:ln w="31750">
              <a:solidFill>
                <a:srgbClr val="02C39A"/>
              </a:solidFill>
            </a:ln>
          </c:spPr>
          <c:marker>
            <c:symbol val="diamond"/>
            <c:spPr>
              <a:solidFill>
                <a:srgbClr val="02C39A"/>
              </a:solidFill>
              <a:ln>
                <a:solidFill>
                  <a:srgbClr val="02C39A"/>
                </a:solidFill>
              </a:ln>
            </c:spPr>
          </c:marker>
          <c:dLbls>
            <c:numFmt sourceLinked="0"/>
            <c:txPr>
              <a:bodyPr/>
              <a:lstStyle/>
              <a:p>
                <a:pPr>
                  <a:defRPr sz="1000" b="1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0.25</c:v>
                </c:pt>
                <c:pt idx="5">
                  <c:v>0.30</c:v>
                </c:pt>
                <c:pt idx="6">
                  <c:v>0.35</c:v>
                </c:pt>
                <c:pt idx="7">
                  <c:v>0.40</c:v>
                </c:pt>
                <c:pt idx="8">
                  <c:v>0.45</c:v>
                </c:pt>
                <c:pt idx="9">
                  <c:v>0.50</c:v>
                </c:pt>
                <c:pt idx="10">
                  <c:v>0.55</c:v>
                </c:pt>
                <c:pt idx="11">
                  <c:v>0.60</c:v>
                </c:pt>
                <c:pt idx="12">
                  <c:v>0.65</c:v>
                </c:pt>
                <c:pt idx="13">
                  <c:v>0.70</c:v>
                </c:pt>
                <c:pt idx="14">
                  <c:v>0.75</c:v>
                </c:pt>
                <c:pt idx="15">
                  <c:v>0.80</c:v>
                </c:pt>
                <c:pt idx="16">
                  <c:v>0.85</c:v>
                </c:pt>
                <c:pt idx="17">
                  <c:v>0.90</c:v>
                </c:pt>
                <c:pt idx="18">
                  <c:v>0.95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32.8</c:v>
                </c:pt>
                <c:pt idx="1">
                  <c:v>42.6</c:v>
                </c:pt>
                <c:pt idx="2">
                  <c:v>47.4</c:v>
                </c:pt>
                <c:pt idx="3">
                  <c:v>51.0</c:v>
                </c:pt>
                <c:pt idx="4">
                  <c:v>55.1</c:v>
                </c:pt>
                <c:pt idx="5">
                  <c:v>58.2</c:v>
                </c:pt>
                <c:pt idx="6">
                  <c:v>60.2</c:v>
                </c:pt>
                <c:pt idx="7">
                  <c:v>61.3</c:v>
                </c:pt>
                <c:pt idx="8">
                  <c:v>63.8</c:v>
                </c:pt>
                <c:pt idx="9">
                  <c:v>64.2</c:v>
                </c:pt>
                <c:pt idx="10">
                  <c:v>64.8</c:v>
                </c:pt>
                <c:pt idx="11">
                  <c:v>66.4</c:v>
                </c:pt>
                <c:pt idx="12">
                  <c:v>66.6</c:v>
                </c:pt>
                <c:pt idx="13">
                  <c:v>66.6</c:v>
                </c:pt>
                <c:pt idx="14">
                  <c:v>66.2</c:v>
                </c:pt>
                <c:pt idx="15">
                  <c:v>64.2</c:v>
                </c:pt>
                <c:pt idx="16">
                  <c:v>60.9</c:v>
                </c:pt>
                <c:pt idx="17">
                  <c:v>53.9</c:v>
                </c:pt>
                <c:pt idx="18">
                  <c:v>43.9</c:v>
                </c:pt>
              </c:numCache>
            </c:numRef>
          </c:val>
          <c:smooth val="0"/>
        </c:ser>
        <c:dLbls>
          <c:numFmt sourceLinked="0"/>
          <c:txPr>
            <a:bodyPr/>
            <a:lstStyle/>
            <a:p>
              <a:pPr>
                <a:defRPr sz="1000" b="1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280160" y="4663440"/>
            <a:ext cx="4023360" cy="402336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5" name="Image 0" descr="/home/claude/deck/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702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760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5 MINOR RESEARCH 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LettuceDetect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548640" y="3337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Reimplementing and Extending a Hallucination Detector for RAG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128016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43434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AF6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"Can we trust what a RAG system tells us, and can we trust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EAF6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detector that checks it?"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&amp; Presentation  |  Paper: Kovács &amp; Recski, Feb 2025 · arXiv:2502.17125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correct context doesn’t guarantee a correct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C1440E"/>
          </a:solidFill>
          <a:ln/>
        </p:spPr>
        <p:txBody>
          <a:bodyPr/>
          <a:p/>
        </p:txBody>
      </p:sp>
      <p:pic>
        <p:nvPicPr>
          <p:cNvPr id="5" name="Image 0" descr="/home/claude/deck/icons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579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060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6060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153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634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6634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727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208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7208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283464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77240" y="2999232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Eiffel Tower was completed in 1889.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"Completed in 1889,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1440E"/>
                </a:solidFill>
                <a:highlight>
                  <a:srgbClr val="FBE4D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Gustave Eiffel and costing 7.8 million francs."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43708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text is true, but never stated in the context: unsupported, therefore a hallucination.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185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=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"unsupported by the given context," not "false in the real world." This narrow definition is what makes the problem checkable by a program at all.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existing detectors fell short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73736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2121408"/>
            <a:ext cx="5257800" cy="39319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17373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25146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GPT-4 prompted to check the answer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3310128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739896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4032504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Doubles/triples inference cost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4325112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latency at production scale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355080" y="173736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355080" y="173736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6355080" y="2121408"/>
            <a:ext cx="5257800" cy="39319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629400" y="17373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Encoder Classifiers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629400" y="25146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Luna (DeBERTa-large, 440M)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629400" y="30175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629400" y="3310128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 inference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629400" y="3739896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629400" y="4032504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512 tokens (BERT-family)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629400" y="4325112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RAG contexts run 2,000–8,000 tokens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629400" y="4617720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blind to most evidence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was stuck between accurate-and-expensive and cheap-and-blind. Nobody wanted a safety check that costs more than the thing it’s checking.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field got here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10835640" cy="0"/>
          </a:xfrm>
          <a:prstGeom prst="line">
            <a:avLst/>
          </a:prstGeom>
          <a:noFill/>
          <a:ln w="381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7607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8288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743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SelfCheckGPT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743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Zero-resource,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consistency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3052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53733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35445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8188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8188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enabling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28498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289179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70891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273634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3634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encoder,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63943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24624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06336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09079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ReDeEP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9079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White-box,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mechanistic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9389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60070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1782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544525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RAG-HAT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4525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detector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DPO fix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302627" y="2862072"/>
            <a:ext cx="310896" cy="310896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695515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77227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679970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LettuceDetect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79970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 context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870280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830961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2673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15416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Turk-LD / OOD study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5416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warning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1005725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966406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48118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950861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50861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14-lang, LLM-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data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1141171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1101852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1083564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1086307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RAGognizer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1086307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folded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generator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reacts to a specific gap in the one before it: a chain of reasoning, not a random list.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Method-by-method comparison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572000"/>
        </p:xfrm>
        <a:graphic>
          <a:graphicData uri="http://schemas.openxmlformats.org/drawingml/2006/table">
            <a:tbl>
              <a:tblPr/>
              <a:tblGrid>
                <a:gridCol w="2331720"/>
                <a:gridCol w="640080"/>
                <a:gridCol w="1691640"/>
                <a:gridCol w="3200400"/>
                <a:gridCol w="3200400"/>
              </a:tblGrid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Advantage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SelfCheckGPT [3] (2023)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(black-box)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training data or model access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N-sample inference; not context-grounded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 [4]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440M (DeBERTa)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~97% cheaper than an LLM-judge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512-token context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RAG-HAT [5]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8B (Llama-3)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F1; also mitigates via DPO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Heavy, closed-model (GPT-4)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ReDeEP [6]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White-box probe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— attention vs.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generator internals; no closed APIs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LettuceDetect-base [1]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150M (ModernBERT)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accuracy-efficiency trade-off; 8K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English-only; no calibration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LettuceDetect-large [1]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396M (ModernBERT)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F1, same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limitations, larger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Turk-LettuceDetect [8]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~150–396M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multilingual (Turkish) variant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drop from translation noise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 [9]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14-language 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Cheap, scalable, LLM-annotated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 not human-verified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RAGognizer [10] (2026)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Joint-trained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separate inference-time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generator retraining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HALT-RAG [11]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NLI ensemble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 calibration error + abstention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Evaluated on HaluEval, not RAGTruth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*F1 = example-level F1 on RAGTruth as reported by each source paper, unless otherwise noted.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CATALOG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detector was trained and tested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160520"/>
        </p:xfrm>
        <a:graphic>
          <a:graphicData uri="http://schemas.openxmlformats.org/drawingml/2006/table">
            <a:tbl>
              <a:tblPr/>
              <a:tblGrid>
                <a:gridCol w="2148840"/>
                <a:gridCol w="2606040"/>
                <a:gridCol w="4937760"/>
                <a:gridCol w="1371600"/>
              </a:tblGrid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Content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LettuceDetect, RAG-HAT, ReDeEP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~18K span-annotated triples; QA + data-to-text + summarization; 6 LLMs/item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WikiBio GPT-3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SelfCheckGPT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bios → 1,908 sentences, manually labeled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(Accurate Context)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tasks with verified accurate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Turkish-RAGTruth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Turk-LettuceDetect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Machine-translated RAGTruth, ~17,790 instances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SQuAD-derived OOD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Dubanowska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SQuAD passages via LLaMA-2-7B, OOD test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 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63,792 train / 2,897 test; GPT-4o auto-annotated spans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languages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Naturally occurring closed-domain hallucinations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HaluEval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HALT-RAG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~35K QA / dialogue / summarization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97880"/>
            <a:ext cx="11064240" cy="594360"/>
          </a:xfrm>
          <a:prstGeom prst="roundRect">
            <a:avLst>
              <a:gd name="adj" fmla="val 9231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777240" y="58978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reimplementation uses RAGTruth exclusively, the only dataset here that is public, human-annotated at span level, and directly comparable to LettuceDetect’s published numbers.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LettuceDetect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21792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[CLS] Context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[SEP] Question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[SEP] Answer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148840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505456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578608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AutoTokenizer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(char offsets)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05656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462272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535424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62472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419088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92240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token-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class. head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19288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375904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449056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P(hallucinated)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976104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10332720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0405872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spans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48640" y="33375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detail: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question tokens are labeled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−100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(PyTorch’s "ignore in loss" sentinel). The model reads them, but is graded only on its predictions for answer tokens.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5" name="Image 1" descr="/home/claude/deck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4189781"/>
            <a:ext cx="261518" cy="26151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8872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supervision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18872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300-token answer yields 300 training signals, not one.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34340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9" name="Image 2" descr="/home/claude/deck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01" y="4189781"/>
            <a:ext cx="261518" cy="26151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98348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Localizes the problem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498348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exactly which phrase is unsupported.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813816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3" name="Image 3" descr="/home/claude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8861" y="4189781"/>
            <a:ext cx="261518" cy="26151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77824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falls out free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877824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 across token predictions gives yes/no.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7" name="Text 31"/>
          <p:cNvSpPr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 (token-level classification) wasn’t a new idea. It only became possible once a long-context encoder existed, and recognizing that timing is the paper’s real contribution.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enabler: ModernBERT’s long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rul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/ DeBERTa (Luna)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2212848"/>
            <a:ext cx="605790" cy="502920"/>
          </a:xfrm>
          <a:prstGeom prst="roundRect">
            <a:avLst>
              <a:gd name="adj" fmla="val 7273"/>
            </a:avLst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38478" y="2212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tokens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971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 (LettuceDetect)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310128"/>
            <a:ext cx="9692640" cy="502920"/>
          </a:xfrm>
          <a:prstGeom prst="roundRect">
            <a:avLst>
              <a:gd name="adj" fmla="val 7273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625328" y="331012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8,192 tokens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977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16x more context capacity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4434840"/>
            <a:ext cx="52578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77240" y="4572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512-token ceiling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7240" y="49377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BERT learns one position vector per slot, 1–512. Slot 513 simply doesn’t exist: a hard architectural wall.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55080" y="4434840"/>
            <a:ext cx="52578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583680" y="4572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RoPE removes the wall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83680" y="49377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Rotary Position Embeddings encode position as a mathematical rotation defined for any position, extending capacity to 8,192 tokens.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recipe &amp; evaluation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943600" cy="4160520"/>
        </p:xfrm>
        <a:graphic>
          <a:graphicData uri="http://schemas.openxmlformats.org/drawingml/2006/table">
            <a:tbl>
              <a:tblPr/>
              <a:tblGrid>
                <a:gridCol w="2194560"/>
                <a:gridCol w="3749040"/>
              </a:tblGrid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Hyperparameter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ModernBERT-base (150M) / -large (396M)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decay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(paper, on A100)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sequence length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4,096 tokens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(DataCollatorForTokenClassification)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token-level F1 on 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720840" y="1600200"/>
            <a:ext cx="4892040" cy="1965960"/>
          </a:xfrm>
          <a:prstGeom prst="roundRect">
            <a:avLst>
              <a:gd name="adj" fmla="val 325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949440" y="173736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Example-level F1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949440" y="2084832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flagged token → example flagged, then precision/recall/F1 over examples. Answers: "does this response need review?"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720840" y="3703320"/>
            <a:ext cx="4892040" cy="1965960"/>
          </a:xfrm>
          <a:prstGeom prst="roundRect">
            <a:avLst>
              <a:gd name="adj" fmla="val 325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949440" y="384048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Span-level F1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949440" y="4187952"/>
            <a:ext cx="4434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Character-overlap matching between predicted and gold spans. No official reference implementation exists; each paper self-implements this, so numbers are indicative, not exactly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594360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 matter: hallucinated tokens are the minority class, so raw accuracy is deceptively high for a model that predicts "supported" everywhere.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Published results on RAGTruth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548640" y="1600200"/>
          <a:ext cx="11064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8640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822960" y="548640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Reimplementation target: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LettuceDetect-base ≈ 76.07 example-level F1; achieved 77.18 (see Results)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values are as reported by each source paper, not perfectly comparable due to differing implementations and evaluation protocols.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LettuceDetect solves vs. leaves open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8" name="Image 1" descr="/home/claude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756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1965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solves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68680" y="260604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512-token ceiling that blinded prior small-encoder detectors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34747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inference cost ~30x vs. LLM-judge approaches at comparable accuracy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68680" y="434340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per-token → per-span output, not just a binary verdict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52120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every prior encoder-based method on RAGTruth, and most prompting baselines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35508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9050">
            <a:solidFill>
              <a:srgbClr val="C1440E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629400" y="1965960"/>
            <a:ext cx="457200" cy="457200"/>
          </a:xfrm>
          <a:prstGeom prst="ellipse">
            <a:avLst/>
          </a:prstGeom>
          <a:solidFill>
            <a:srgbClr val="C1440E"/>
          </a:solidFill>
          <a:ln/>
        </p:spPr>
        <p:txBody>
          <a:bodyPr/>
          <a:p/>
        </p:txBody>
      </p:sp>
      <p:pic>
        <p:nvPicPr>
          <p:cNvPr id="16" name="Image 2" descr="/home/claude/deck/icons/cro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075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23760" y="1965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leaves open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675120" y="2606040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English-only: stated explicitly in the paper’s own limitations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675120" y="3319272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signal: never examines the generator’s internal attention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675120" y="4032504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collapse of RAGTruth’s four hallucination categories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675120" y="4745736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calibration: a fixed 0.5 threshold treats all flags identically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675120" y="5458968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Untested generalization: may perform close to random out-of-distribution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From code to a trained model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737360"/>
            <a:ext cx="1920240" cy="13716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data_prep.py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87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40" y="1737360"/>
            <a:ext cx="1920240" cy="137160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verify_
alignment.py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73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1737360"/>
            <a:ext cx="1920240" cy="13716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2D2D"/>
                </a:solidFill>
                <a:latin typeface="Calibri"/>
              </a:rPr>
              <a:t>model.py +
dataset.py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59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0" y="1737360"/>
            <a:ext cx="1920240" cy="137160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9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train.py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45167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0" y="1737360"/>
            <a:ext cx="1920240" cy="137160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evaluate.py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join + tokenize +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label-align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hand-check on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real 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ModernBERT +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HF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HF Trainer,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smoke-test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F1 + raw prob.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dump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5B6B6B"/>
                </a:solidFill>
                <a:latin typeface="Calibri"/>
              </a:rPr>
              <a:t>◀  Dev machine (no GPU)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94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5B6B6B"/>
                </a:solidFill>
                <a:latin typeface="Calibri"/>
              </a:rPr>
              <a:t>RTX 4060 laptop (GPU)  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0 /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label-alignment mismatches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hand-checked before scaling 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05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CPU smoke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5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runtime-verified before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any GPU time was spent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2 machines, 1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code + smoke tests here;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real training on the GPU laptop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49240"/>
            <a:ext cx="11064240" cy="9601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D2D"/>
                </a:solidFill>
                <a:latin typeface="Calibri"/>
              </a:rPr>
              <a:t>Own code, not their package: </a:t>
            </a:r>
            <a:r>
              <a:rPr sz="1300" b="0">
                <a:solidFill>
                  <a:srgbClr val="1F2D2D"/>
                </a:solidFill>
                <a:latin typeface="Calibri"/>
              </a:rPr>
              <a:t>every script above was written from scratch and verified against real RAGTruth data. The trickiest step (label alignment) was checked against the official reference implementation before being trusted at scale.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Dataset reality &amp; hardware adaptation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2,965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RAGTruth source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3 tasks: QA, Summary, Data2txt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5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17,790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5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LLM responses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5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6 models per source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15,090 / 2,700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train / test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test balanced 900 per 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525780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52578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Paper Setting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749039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GPU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749039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A100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2062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Batch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2062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6634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Max seq. length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6634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4,096 tokens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017520"/>
            <a:ext cx="525780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17520"/>
            <a:ext cx="5257800" cy="5486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Our Setting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49039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GPU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749039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RTX 4060 laptop (8GB)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2062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Batch 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2062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2 × grad-accum 4 (eff. 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6634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Max seq. length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6634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2,048 tokens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2D2D"/>
                </a:solidFill>
                <a:latin typeface="Calibri"/>
              </a:rPr>
              <a:t>Documented, expected deviations</a:t>
            </a:r>
            <a:r>
              <a:rPr sz="1300" b="0">
                <a:solidFill>
                  <a:srgbClr val="1F2D2D"/>
                </a:solidFill>
                <a:latin typeface="Calibri"/>
              </a:rPr>
              <a:t>: exactly the class of hardware adaptation the project brief calls defensible, provided it's disclosed.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We matched the paper's own number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97880"/>
            <a:ext cx="11064240" cy="59436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9788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28090"/>
                </a:solidFill>
                <a:latin typeface="Calibri"/>
              </a:rPr>
              <a:t>77.18 vs. a 76.07 target</a:t>
            </a:r>
            <a:r>
              <a:rPr sz="1350" b="0">
                <a:solidFill>
                  <a:srgbClr val="1F2D2D"/>
                </a:solidFill>
                <a:latin typeface="Calibri"/>
              </a:rPr>
              <a:t>: an independently written reimplementation, not the authors' pip package, matching their published headline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Per-task breakdown reproduces the paper's own pattern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Summarization is the weakest task in our model too. </a:t>
            </a:r>
            <a:r>
              <a:rPr sz="1300" b="0">
                <a:solidFill>
                  <a:srgbClr val="FFFFFF"/>
                </a:solidFill>
                <a:latin typeface="Calibri"/>
              </a:rPr>
              <a:t>The original paper reports the same pattern, and reproducing this qualitative weakness is stronger evidence of a faithful reimplementation than the aggregate score alone.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Threshold tuning, done honestly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08760"/>
          <a:ext cx="70408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09560" y="160020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Held-out result, global vs. per-task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b="1" sz="1300">
                <a:solidFill>
                  <a:srgbClr val="FFFFFF"/>
                </a:solidFill>
                <a:latin typeface="Calibri"/>
              </a:rPr>
              <a:t>A single global threshold barely moves F1, but tuning it per task finds a real +4.4 gain on Summarization</a:t>
            </a:r>
            <a:r>
              <a:rPr b="0" sz="1300">
                <a:solidFill>
                  <a:srgbClr val="FFFFFF"/>
                </a:solidFill>
                <a:latin typeface="Calibri"/>
              </a:rPr>
              <a:t>, our weakest task, for zero additional training.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16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909560" y="1965960"/>
          <a:ext cx="352044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822960"/>
                <a:gridCol w="822960"/>
                <a:gridCol w="73152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27432" marB="27432" anchor="ctr">
                    <a:solidFill>
                      <a:srgbClr val="0280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@0.5</a:t>
                      </a:r>
                    </a:p>
                  </a:txBody>
                  <a:tcPr marL="45720" marR="45720" marT="27432" marB="27432" anchor="ctr">
                    <a:solidFill>
                      <a:srgbClr val="0280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@Tuned</a:t>
                      </a:r>
                    </a:p>
                  </a:txBody>
                  <a:tcPr marL="45720" marR="45720" marT="27432" marB="27432" anchor="ctr">
                    <a:solidFill>
                      <a:srgbClr val="0280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</a:p>
                  </a:txBody>
                  <a:tcPr marL="45720" marR="45720" marT="27432" marB="27432" anchor="ctr">
                    <a:solidFill>
                      <a:srgbClr val="028090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Global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78.2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78.3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+0.1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Summary</a:t>
                      </a:r>
                    </a:p>
                  </a:txBody>
                  <a:tcPr marL="45720" marR="45720" marT="27432" marB="27432" anchor="ctr">
                    <a:solidFill>
                      <a:srgbClr val="D7EF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55.2</a:t>
                      </a:r>
                    </a:p>
                  </a:txBody>
                  <a:tcPr marL="45720" marR="45720" marT="27432" marB="27432" anchor="ctr">
                    <a:solidFill>
                      <a:srgbClr val="D7EF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59.6</a:t>
                      </a:r>
                    </a:p>
                  </a:txBody>
                  <a:tcPr marL="45720" marR="45720" marT="27432" marB="27432" anchor="ctr">
                    <a:solidFill>
                      <a:srgbClr val="D7EF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28090"/>
                          </a:solidFill>
                          <a:latin typeface="Calibri"/>
                        </a:rPr>
                        <a:t>+4.4</a:t>
                      </a:r>
                    </a:p>
                  </a:txBody>
                  <a:tcPr marL="45720" marR="45720" marT="27432" marB="27432" anchor="ctr">
                    <a:solidFill>
                      <a:srgbClr val="D7EFE9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63.7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65.4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+1.7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D2D"/>
                          </a:solidFill>
                          <a:latin typeface="Calibri"/>
                        </a:rPr>
                        <a:t>Data2txt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86.9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87.1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D2D"/>
                          </a:solidFill>
                          <a:latin typeface="Calibri"/>
                        </a:rPr>
                        <a:t>+0.2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What worked, and what we found along the way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600200"/>
            <a:ext cx="5257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2578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Matched the paper's F1 (77.18 vs. 76.07 target)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Reproduced the paper's own summarization weakness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0 / 10 mismatches hand-verifying label alignment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CPU smoke tests caught bugs before any GPU time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Honest, source-grouped held-out tuning protocol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00200"/>
            <a:ext cx="5257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5257800" cy="5486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Challenges &amp;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RTX 4060 OOM at batch 8 → fixed with batch 2 × accum 4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A merged refactor PR briefly broke evaluate.py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Found PsiloQA's own paper already ran our first “novel idea”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Found and disclosed a validation leak in checkpoint selection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Per-task threshold tuning found a real +4.4 F1 gain on Summary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Planned: class-weighted retraining, targeting Summary's 3% token sparsity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64240" cy="5029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943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F2D2D"/>
                </a:solidFill>
                <a:latin typeface="Calibri"/>
              </a:rPr>
              <a:t>Auditing our own methodology, not just the paper's, </a:t>
            </a:r>
            <a:r>
              <a:rPr sz="1250" b="0">
                <a:solidFill>
                  <a:srgbClr val="1F2D2D"/>
                </a:solidFill>
                <a:latin typeface="Calibri"/>
              </a:rPr>
              <a:t>is the same standard the 2025 literature asks this class of detector to meet.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LettuceDetect: Literature Survey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 found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77240" y="16002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first: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considered training on PsiloQA and reporting it as new, but PsiloQA’s own Table 4 already does exactly that, using LettuceDetect itself as one of the tested models.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5B6B6B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31520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49808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RAGTruth-trained ≠ PsiloQA-trained OOD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49808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Published: detectors disagree by up to 45% IoU once evaluated out-of-domain (Mu-SHROOM).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096512" y="3360420"/>
            <a:ext cx="201168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325112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C1440E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4507992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C1440E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507992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526280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 training untested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26280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only ever pits the two datasets against each other, and never trains on both together.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872984" y="3360420"/>
            <a:ext cx="201168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101584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284464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284464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STUDY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302752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on both, test cross-dataset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302752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+ PsiloQA combined training, evaluated on both test sets.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34340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77240" y="43434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best of our literature review, </a:t>
            </a:r>
            <a:pPr indent="0" marL="0">
              <a:lnSpc>
                <a:spcPct val="120000"/>
              </a:lnSpc>
              <a:buNone/>
            </a:pPr>
            <a:r>
              <a:rPr lang="en-US" sz="1250" b="1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prior study evaluating combined RAGTruth + PsiloQA training for cross-dataset generalization.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48640" y="53035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22960" y="54132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22960" y="56875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training LettuceDetect on combined RAGTruth + PsiloQA data reduce the cross-dataset generalization gap compared with training on either dataset alone? This is yet to be experimentally tested.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27632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627632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606040" y="2002536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971800" y="1627632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971800" y="1627632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2002536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394960" y="1627632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532120" y="1627632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F1 on RAGTruth test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394960" y="2130552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532120" y="2130552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Cross-dataset: F1 on PsiloQA-EN test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265176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48640" y="2651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PsiloQA-EN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2606040" y="3026664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2971800" y="265176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2971800" y="2651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029200" y="3026664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394960" y="2651760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532120" y="26517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F1 on PsiloQA-EN test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94960" y="3154680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532120" y="315468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Cross-dataset: F1 on RAGTruth test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367588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48640" y="3675888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 +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PsiloQA-EN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2606040" y="4050792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971800" y="367588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2971800" y="3675888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0" y="4050792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5394960" y="3675888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D7F2EC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5532120" y="3675888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both test sets (combined)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48640" y="4700016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822960" y="4700016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for all three runs: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Example-level F1  •  Span-level F1  •  Expected Calibration Error (ECE)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5266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48640" y="5559552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LettuceDetect-base performance on RAGTruth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RAGTruth → PsiloQA cross-dataset performance drop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172200" y="5559552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whether combined training reduces that gap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ECE across the three training configurations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Combined-training experiment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Eval: In-Domain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Eval: Cross-Dataset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(core reimplementation)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RAGTruth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PsiloQA-EN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PsiloQA-English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PsiloQA-EN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RAGTruth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+ PsiloQA-EN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(combined)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both test 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370832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Expected Calibration Error (ECE) reported for all three configurations, the same metric HALT-RAG uses.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48640" y="473659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0" name="Image 1" descr="/home/claude/deck/icons/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48463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added compute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1371600" y="5166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extra training runs, not a post-hoc tweak.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217920" y="473659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6382512" y="496519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5" name="Image 2" descr="/home/claude/deck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3" y="5085893"/>
            <a:ext cx="261518" cy="26151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40880" y="48463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specific number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7040880" y="5166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45% IoU gap, not a general warning.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48640" y="560527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9" name="Shape 13"/>
          <p:cNvSpPr/>
          <p:nvPr/>
        </p:nvSpPr>
        <p:spPr>
          <a:xfrm>
            <a:off x="713232" y="583387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0" name="Image 3" descr="/home/claude/deck/icons/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5954573"/>
            <a:ext cx="261518" cy="26151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5715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Subsumes the OOD idea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1371600" y="6035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→ PsiloQA becomes a real OOD test.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217920" y="560527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6382512" y="583387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5" name="Image 4" descr="/home/claude/deck/icons/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3213" y="595457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040880" y="5715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 either way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7040880" y="6035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non-result is a genuine finding.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5 project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0350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alignment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26923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39268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39268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4754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loop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11327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23672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23672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29158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baseline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95731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608076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08076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13562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PsiloQA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runs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135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2480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92480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5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97966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(ECE) + writeup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64539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976884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976884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82370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48640" y="2834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16-week sem-5 plan (from project brief), compressed to five phases plus a final synthesis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0350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data_prep.py pipeline; ingest RAGTruth triples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239268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244754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ModernBERT-base, from-scratch training loop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23672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429158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Example-level &amp; span-level F1 on RAGTruth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8076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613562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RAGTruth-only, PsiloQA-only, combined (3 runs)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92480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797966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ECE across all 3 configs; final writeup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976884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82370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→ OOD comparison → combined model → calibration → analysis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54864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73152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18K</a:t>
            </a:r>
            <a:endParaRPr lang="en-US" sz="3400" dirty="0"/>
          </a:p>
        </p:txBody>
      </p:sp>
      <p:sp>
        <p:nvSpPr>
          <p:cNvPr id="44" name="Text 41"/>
          <p:cNvSpPr/>
          <p:nvPr/>
        </p:nvSpPr>
        <p:spPr>
          <a:xfrm>
            <a:off x="73152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triples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tasks · 6 LLMs/item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434340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452628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150M</a:t>
            </a:r>
            <a:endParaRPr lang="en-US" sz="3400" dirty="0"/>
          </a:p>
        </p:txBody>
      </p:sp>
      <p:sp>
        <p:nvSpPr>
          <p:cNvPr id="47" name="Text 44"/>
          <p:cNvSpPr/>
          <p:nvPr/>
        </p:nvSpPr>
        <p:spPr>
          <a:xfrm>
            <a:off x="452628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ModernBERT-base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13816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832104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77.18</a:t>
            </a:r>
            <a:endParaRPr lang="en-US" sz="3400" dirty="0"/>
          </a:p>
        </p:txBody>
      </p:sp>
      <p:sp>
        <p:nvSpPr>
          <p:cNvPr id="50" name="Text 47"/>
          <p:cNvSpPr/>
          <p:nvPr/>
        </p:nvSpPr>
        <p:spPr>
          <a:xfrm>
            <a:off x="832104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example-level F1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(target was 76.07)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777240" y="57150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We’re not calling their pip package. We’re building the pipeline from scratch: label alignment, model, training loop, both metrics.</a:t>
            </a:r>
            <a:endParaRPr lang="en-US" sz="1450" dirty="0"/>
          </a:p>
        </p:txBody>
      </p:sp>
      <p:sp>
        <p:nvSpPr>
          <p:cNvPr id="53" name="Text 5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LettuceDetect: Literature Survey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3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3840480" cy="38404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4" name="Image 0" descr="/home/claude/deck/icons/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7022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630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2240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017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3832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Kovács, A. &amp; Recski, G. (2025). LettuceDetect. arXiv:2502.17125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Niu, C. et al. (2024). RAGTruth. ACL 2024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Manakul, P. et al. (2023). SelfCheckGPT. arXiv:2303.08896, EMNLP 2023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Belyi, M. et al. (2024). Luna. arXiv:2406.00975, COLING 2025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Song, J. et al. (2024). RAG-HAT. EMNLP 2024 Industry Track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Sun, Z. et al. (2024/25). ReDeEP. arXiv:2410.11414, ICLR 2025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0" y="33832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Dubanowska, K. et al. (2025). OOD generalization. EMNLP 2025 Findings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Turk-LettuceDetect (2025). arXiv:2509.17671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PsiloQA (2025). arXiv:2510.04849, EMNLP 2025 Findings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Ridder, F. et al. (2026). RAGognizer. arXiv:2604.15945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HALT-RAG (2025). arXiv:2509.07475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2026-09-06T05:47:56Z</dcterms:created>
  <dcterms:modified xsi:type="dcterms:W3CDTF">2026-09-06T05:47:56Z</dcterms:modified>
</cp:coreProperties>
</file>